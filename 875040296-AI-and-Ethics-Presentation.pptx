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71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2464-A9B2-6D80-F670-E81CD676B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44655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AI AND ETHICS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BBE88-BCC8-FF29-397F-CA074D322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1333947"/>
            <a:ext cx="7363609" cy="5346552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0070C0"/>
                </a:solidFill>
                <a:latin typeface="Arial" pitchFamily="34" charset="0"/>
              </a:rPr>
              <a:t>By</a:t>
            </a: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0070C0"/>
                </a:solidFill>
              </a:rPr>
              <a:t>Gagan Deep Singh</a:t>
            </a: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0070C0"/>
                </a:solidFill>
              </a:rPr>
              <a:t>Research Scholar</a:t>
            </a: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dirty="0">
                <a:solidFill>
                  <a:srgbClr val="0070C0"/>
                </a:solidFill>
                <a:latin typeface="Arial" pitchFamily="34" charset="0"/>
              </a:rPr>
              <a:t>(Regd. No. 25RCE002)</a:t>
            </a:r>
            <a:r>
              <a:rPr lang="en-US" sz="2200" dirty="0">
                <a:latin typeface="Arial" pitchFamily="34" charset="0"/>
              </a:rPr>
              <a:t> </a:t>
            </a: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</a:endParaRP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</a:endParaRP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latin typeface="Arial" pitchFamily="34" charset="0"/>
              </a:rPr>
              <a:t>Supervisor</a:t>
            </a: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</a:rPr>
              <a:t>Dr. PAWAN KUMAR SHARMA</a:t>
            </a:r>
          </a:p>
          <a:p>
            <a:pPr algn="ct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>
                <a:latin typeface="Arial" pitchFamily="34" charset="0"/>
              </a:rPr>
              <a:t>Associate Professor</a:t>
            </a:r>
            <a:br>
              <a:rPr lang="en-US" sz="2200" dirty="0">
                <a:latin typeface="Arial" pitchFamily="34" charset="0"/>
              </a:rPr>
            </a:br>
            <a:r>
              <a:rPr lang="en-US" sz="1800" dirty="0">
                <a:latin typeface="Arial" pitchFamily="34" charset="0"/>
              </a:rPr>
              <a:t>Department of Mathematics and Computation, National Institute of Technology Hamirpur</a:t>
            </a:r>
            <a:br>
              <a:rPr lang="en-US" sz="1800" dirty="0">
                <a:latin typeface="Arial" pitchFamily="34" charset="0"/>
              </a:rPr>
            </a:br>
            <a:r>
              <a:rPr lang="en-US" sz="1800" dirty="0">
                <a:latin typeface="Arial" pitchFamily="34" charset="0"/>
              </a:rPr>
              <a:t>Hamirpur-177005, Himachal Pradesh, India</a:t>
            </a:r>
          </a:p>
        </p:txBody>
      </p:sp>
      <p:pic>
        <p:nvPicPr>
          <p:cNvPr id="4" name="Picture 2" descr="NITH_logo">
            <a:extLst>
              <a:ext uri="{FF2B5EF4-FFF2-40B4-BE49-F238E27FC236}">
                <a16:creationId xmlns:a16="http://schemas.microsoft.com/office/drawing/2014/main" id="{E8C2AAA7-5CCA-EA9E-150D-9B97B0E7D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017" y="1699708"/>
            <a:ext cx="2140772" cy="1893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970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Artificial Intelligence (AI) refers to the simulation of human intelligence in machines that are programmed to think and learn.</a:t>
            </a:r>
          </a:p>
          <a:p>
            <a:pPr>
              <a:buNone/>
            </a:pPr>
            <a:r>
              <a:rPr lang="en-US" sz="2800" b="1" dirty="0"/>
              <a:t>Key Features of AI: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Learning:</a:t>
            </a:r>
            <a:r>
              <a:rPr lang="en-US" sz="2400" dirty="0"/>
              <a:t> Machines improve performance through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Reasoning:</a:t>
            </a:r>
            <a:r>
              <a:rPr lang="en-US" sz="2400" dirty="0"/>
              <a:t> Ability to solve problems and make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Perception:</a:t>
            </a:r>
            <a:r>
              <a:rPr lang="en-US" sz="2400" dirty="0"/>
              <a:t> Processing sensory input (e.g., vision, audio).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Interaction:</a:t>
            </a:r>
            <a:r>
              <a:rPr lang="en-US" sz="2400" dirty="0"/>
              <a:t> Natural Language Processing (NLP), speech recognition,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8F92-44A5-EF68-6A2F-A3647D59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Continued…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01EF-BA9F-FB43-DCE8-953893E93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/>
              <a:t>Applications in Daily Life</a:t>
            </a:r>
            <a:endParaRPr lang="en-US" sz="2800" b="1" dirty="0"/>
          </a:p>
          <a:p>
            <a:r>
              <a:rPr lang="en-US" sz="2400" b="1" dirty="0"/>
              <a:t>Virtual Assistants: </a:t>
            </a:r>
            <a:r>
              <a:rPr lang="en-US" sz="2400" dirty="0"/>
              <a:t>Siri, Alexa, Google Assistant</a:t>
            </a:r>
          </a:p>
          <a:p>
            <a:r>
              <a:rPr lang="en-US" sz="2400" dirty="0"/>
              <a:t> </a:t>
            </a:r>
            <a:r>
              <a:rPr lang="en-US" sz="2400" b="1" dirty="0"/>
              <a:t>Recommendation Systems: </a:t>
            </a:r>
            <a:r>
              <a:rPr lang="en-US" sz="2400" dirty="0"/>
              <a:t>Netflix, YouTube, Amazon </a:t>
            </a:r>
          </a:p>
          <a:p>
            <a:r>
              <a:rPr lang="en-US" sz="2400" b="1" dirty="0"/>
              <a:t>Healthcare: </a:t>
            </a:r>
            <a:r>
              <a:rPr lang="en-US" sz="2400" dirty="0"/>
              <a:t>Al diagnosis, robotic surgery </a:t>
            </a:r>
          </a:p>
          <a:p>
            <a:r>
              <a:rPr lang="en-US" sz="2400" b="1" dirty="0"/>
              <a:t>Transportation:</a:t>
            </a:r>
            <a:r>
              <a:rPr lang="en-US" sz="2400" dirty="0"/>
              <a:t> Self-driving cars, traffic prediction</a:t>
            </a:r>
          </a:p>
          <a:p>
            <a:r>
              <a:rPr lang="en-US" sz="2400" b="1" dirty="0"/>
              <a:t>Finance:</a:t>
            </a:r>
            <a:r>
              <a:rPr lang="en-US" sz="2400" dirty="0"/>
              <a:t> Fraud detection, algorithmic trading</a:t>
            </a:r>
          </a:p>
          <a:p>
            <a:pPr marL="0" indent="0">
              <a:buNone/>
            </a:pPr>
            <a:r>
              <a:rPr lang="en-US" sz="2800" b="1" dirty="0"/>
              <a:t>Growth of Al:</a:t>
            </a:r>
          </a:p>
          <a:p>
            <a:r>
              <a:rPr lang="en-US" sz="2400" dirty="0"/>
              <a:t> Rapid increase in Al capabilities and adoption</a:t>
            </a:r>
          </a:p>
          <a:p>
            <a:r>
              <a:rPr lang="en-US" sz="2400" dirty="0"/>
              <a:t> Integration into core business and societal systems</a:t>
            </a:r>
          </a:p>
          <a:p>
            <a:r>
              <a:rPr lang="en-US" sz="2400" dirty="0"/>
              <a:t> Powered by big data, cloud computing,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5681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Ethics in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AI’s influence on society and individuals</a:t>
            </a:r>
          </a:p>
          <a:p>
            <a:pPr marL="0" indent="0">
              <a:buNone/>
            </a:pPr>
            <a:r>
              <a:rPr dirty="0"/>
              <a:t>• Potential for misuse or harm</a:t>
            </a:r>
          </a:p>
          <a:p>
            <a:pPr marL="0" indent="0">
              <a:buNone/>
            </a:pPr>
            <a:r>
              <a:rPr dirty="0"/>
              <a:t>• Importance of aligning AI with human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Ethical Issues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Bias and Discrimination</a:t>
            </a:r>
          </a:p>
          <a:p>
            <a:pPr marL="0" indent="0">
              <a:buNone/>
            </a:pPr>
            <a:r>
              <a:rPr dirty="0"/>
              <a:t>• Privacy and Surveillance</a:t>
            </a:r>
          </a:p>
          <a:p>
            <a:pPr marL="0" indent="0">
              <a:buNone/>
            </a:pPr>
            <a:r>
              <a:rPr dirty="0"/>
              <a:t>• Transparency and Explainability</a:t>
            </a:r>
          </a:p>
          <a:p>
            <a:pPr marL="0" indent="0">
              <a:buNone/>
            </a:pPr>
            <a:r>
              <a:rPr dirty="0"/>
              <a:t>• Autonomy and Decision-making</a:t>
            </a:r>
          </a:p>
          <a:p>
            <a:pPr marL="0" indent="0">
              <a:buNone/>
            </a:pPr>
            <a:r>
              <a:rPr dirty="0"/>
              <a:t>•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systems learning human bias from data</a:t>
            </a:r>
          </a:p>
          <a:p>
            <a:pPr marL="0" indent="0">
              <a:buNone/>
            </a:pPr>
            <a:r>
              <a:rPr dirty="0"/>
              <a:t>• Examples (e.g., facial recognition, hiring tools)</a:t>
            </a:r>
          </a:p>
          <a:p>
            <a:pPr marL="0" indent="0">
              <a:buNone/>
            </a:pPr>
            <a:r>
              <a:rPr dirty="0"/>
              <a:t>• Real-world consequences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in surveillance and data mining</a:t>
            </a:r>
          </a:p>
          <a:p>
            <a:pPr marL="0" indent="0">
              <a:buNone/>
            </a:pPr>
            <a:r>
              <a:rPr dirty="0"/>
              <a:t>• Informed consent and data ownership</a:t>
            </a:r>
          </a:p>
          <a:p>
            <a:pPr marL="0" indent="0">
              <a:buNone/>
            </a:pPr>
            <a:r>
              <a:rPr dirty="0"/>
              <a:t>• Balancing benefits vs individual rights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&amp;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Black-box models and lack of clarity</a:t>
            </a:r>
          </a:p>
          <a:p>
            <a:pPr marL="0" indent="0">
              <a:buNone/>
            </a:pPr>
            <a:r>
              <a:rPr dirty="0"/>
              <a:t>• The importance of interpretable AI</a:t>
            </a:r>
          </a:p>
          <a:p>
            <a:pPr marL="0" indent="0">
              <a:buNone/>
            </a:pPr>
            <a:r>
              <a:rPr dirty="0"/>
              <a:t>• Ethical concerns when users don’t understand AI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Accountability &amp;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Who is responsible for AI decisions?</a:t>
            </a:r>
          </a:p>
          <a:p>
            <a:pPr marL="0" indent="0">
              <a:buNone/>
            </a:pPr>
            <a:r>
              <a:rPr dirty="0"/>
              <a:t>• The “moral crumple zone”</a:t>
            </a:r>
          </a:p>
          <a:p>
            <a:pPr marL="0" indent="0">
              <a:buNone/>
            </a:pPr>
            <a:r>
              <a:rPr dirty="0"/>
              <a:t>• Need for legal and ethical frameworks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 in Warfare and Autonomous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of AI in military and drones</a:t>
            </a:r>
          </a:p>
          <a:p>
            <a:pPr marL="0" indent="0">
              <a:buNone/>
            </a:pPr>
            <a:r>
              <a:rPr dirty="0"/>
              <a:t>• Ethical implications of lethal autonomous</a:t>
            </a:r>
            <a:r>
              <a:rPr lang="en-IN" dirty="0"/>
              <a:t> </a:t>
            </a:r>
            <a:r>
              <a:rPr dirty="0"/>
              <a:t>weapons</a:t>
            </a:r>
          </a:p>
          <a:p>
            <a:pPr marL="0" indent="0">
              <a:buNone/>
            </a:pPr>
            <a:r>
              <a:rPr dirty="0"/>
              <a:t>• Calls for regulation and bans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Guidelines &amp; Ethical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IEEE, UNESCO, EU AI Act, etc.</a:t>
            </a:r>
          </a:p>
          <a:p>
            <a:pPr marL="0" indent="0">
              <a:buNone/>
            </a:pPr>
            <a:r>
              <a:rPr dirty="0"/>
              <a:t>• Principles: fairness, transparency, human</a:t>
            </a:r>
            <a:r>
              <a:rPr lang="en-IN" dirty="0"/>
              <a:t> </a:t>
            </a:r>
            <a:r>
              <a:rPr dirty="0"/>
              <a:t>oversight</a:t>
            </a:r>
          </a:p>
          <a:p>
            <a:pPr marL="0" indent="0">
              <a:buNone/>
            </a:pPr>
            <a:r>
              <a:rPr dirty="0"/>
              <a:t>• Need for global cooperation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Ethical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Building AI aligned with human values</a:t>
            </a:r>
          </a:p>
          <a:p>
            <a:pPr marL="0" indent="0">
              <a:buNone/>
            </a:pPr>
            <a:r>
              <a:rPr dirty="0"/>
              <a:t>• Involving diverse voices in development</a:t>
            </a:r>
          </a:p>
          <a:p>
            <a:pPr marL="0" indent="0">
              <a:buNone/>
            </a:pPr>
            <a:r>
              <a:rPr dirty="0"/>
              <a:t>• Ethics-by-design approach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COMPAS algorithm in criminal justice</a:t>
            </a:r>
          </a:p>
          <a:p>
            <a:pPr marL="0" indent="0">
              <a:buNone/>
            </a:pPr>
            <a:r>
              <a:rPr dirty="0"/>
              <a:t>• Clearview AI facial recognition</a:t>
            </a:r>
          </a:p>
          <a:p>
            <a:pPr marL="0" indent="0">
              <a:buNone/>
            </a:pPr>
            <a:r>
              <a:rPr dirty="0"/>
              <a:t>• ChatGPT and content moderation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Developers and engineers</a:t>
            </a:r>
          </a:p>
          <a:p>
            <a:pPr marL="0" indent="0">
              <a:buNone/>
            </a:pPr>
            <a:r>
              <a:rPr dirty="0"/>
              <a:t>• Governments and policymakers</a:t>
            </a:r>
          </a:p>
          <a:p>
            <a:pPr marL="0" indent="0">
              <a:buNone/>
            </a:pPr>
            <a:r>
              <a:rPr dirty="0"/>
              <a:t>• The public and civil society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AI has great potential but must be guided ethically</a:t>
            </a:r>
          </a:p>
          <a:p>
            <a:pPr marL="0" indent="0">
              <a:buNone/>
            </a:pPr>
            <a:r>
              <a:rPr dirty="0"/>
              <a:t>• Responsibility lies with developers, policymakers, and society</a:t>
            </a:r>
          </a:p>
          <a:p>
            <a:pPr marL="0" indent="0">
              <a:buNone/>
            </a:pPr>
            <a:r>
              <a:rPr dirty="0"/>
              <a:t>• Ethical AI is not a choice—it’s a necessity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777" y="2357269"/>
            <a:ext cx="8229600" cy="2143461"/>
          </a:xfrm>
        </p:spPr>
        <p:txBody>
          <a:bodyPr/>
          <a:lstStyle/>
          <a:p>
            <a:pPr marL="0" indent="0" algn="ctr">
              <a:buNone/>
            </a:pPr>
            <a:r>
              <a:rPr lang="en-U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  <a:p>
            <a:pPr marL="0" indent="0" algn="ctr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487</Words>
  <Application>Microsoft Office PowerPoint</Application>
  <PresentationFormat>On-screen Show (4:3)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AI AND ETHICS</vt:lpstr>
      <vt:lpstr>Introduction to AI</vt:lpstr>
      <vt:lpstr>Continued…</vt:lpstr>
      <vt:lpstr>Why Ethics in AI?</vt:lpstr>
      <vt:lpstr>Key Ethical Issues in AI</vt:lpstr>
      <vt:lpstr>Bias in AI</vt:lpstr>
      <vt:lpstr>Privacy Concerns</vt:lpstr>
      <vt:lpstr>Transparency &amp; Explainability</vt:lpstr>
      <vt:lpstr>Accountability &amp; Responsibility</vt:lpstr>
      <vt:lpstr>AI in Warfare and Autonomous Systems</vt:lpstr>
      <vt:lpstr>Guidelines &amp; Ethical Frameworks</vt:lpstr>
      <vt:lpstr>Future of Ethical AI</vt:lpstr>
      <vt:lpstr>Case Studies</vt:lpstr>
      <vt:lpstr>Role of Stakeholders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naresh shukla</cp:lastModifiedBy>
  <cp:revision>2</cp:revision>
  <dcterms:created xsi:type="dcterms:W3CDTF">2013-01-27T09:14:16Z</dcterms:created>
  <dcterms:modified xsi:type="dcterms:W3CDTF">2025-05-16T07:17:03Z</dcterms:modified>
  <cp:category/>
</cp:coreProperties>
</file>