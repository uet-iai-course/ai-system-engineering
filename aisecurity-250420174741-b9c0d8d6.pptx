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Default Extension="png" ContentType="image/png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5248"/>
            <a:ext cx="7475220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5248"/>
            <a:ext cx="7311390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204354"/>
            <a:ext cx="8308340" cy="3147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United_States_Code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uscode.house.gov/view.xhtml?req=(title%3A15%20section%3A9401%20edition%3Aprelim)&amp;executivedocument-note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src.nist.gov/glossary/term/cybersecurity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ecurityscientist.net/blog/the-definition-of-cybersecurity-according-to-nist/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src.nist.gov/glossary/term/privacy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alesforce.com/artificial-intelligence/ai-security/" TargetMode="External"/><Relationship Id="rId3" Type="http://schemas.openxmlformats.org/officeDocument/2006/relationships/hyperlink" Target="https://www.ibm.com/think/topics/ai-security" TargetMode="External"/><Relationship Id="rId4" Type="http://schemas.openxmlformats.org/officeDocument/2006/relationships/hyperlink" Target="https://www.ibm.com/products/tutorials/ibm-framework-for-securing-generative-ai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log.stackaware.com/p/amazon-data-leakage-unintended-training" TargetMode="External"/><Relationship Id="rId3" Type="http://schemas.openxmlformats.org/officeDocument/2006/relationships/hyperlink" Target="https://www.businessinsider.com/amazon-chatgpt-openai-warns-employees-not-share-confidential-information-microsoft-2023-1" TargetMode="External"/><Relationship Id="rId4" Type="http://schemas.openxmlformats.org/officeDocument/2006/relationships/hyperlink" Target="https://www.prompt.security/blog/8-real-world-incidents-related-to-ai" TargetMode="Externa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reuters.com/technology/google-ai-chatbot-bard-offers-inaccurate-information-company-ad-2023-02-08/" TargetMode="External"/><Relationship Id="rId3" Type="http://schemas.openxmlformats.org/officeDocument/2006/relationships/image" Target="../media/image1.jpg"/><Relationship Id="rId4" Type="http://schemas.openxmlformats.org/officeDocument/2006/relationships/hyperlink" Target="https://www.prompt.security/blog/8-real-world-incidents-related-to-ai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bloomberg.com/news/articles/2023-05-02/samsung-bans-chatgpt-and-other-generative-ai-use-by-staff-after-leak" TargetMode="External"/><Relationship Id="rId3" Type="http://schemas.openxmlformats.org/officeDocument/2006/relationships/hyperlink" Target="https://www.prompt.security/blog/8-real-world-incidents-related-to-ai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echcrunch.com/2023/08/16/snapchats-my-ai-goes-rogue-posts-to-stories-but-snap-confirms-it-was-just-a-glitch/" TargetMode="External"/><Relationship Id="rId3" Type="http://schemas.openxmlformats.org/officeDocument/2006/relationships/hyperlink" Target="https://t.co/GlktCcsEJr" TargetMode="External"/><Relationship Id="rId4" Type="http://schemas.openxmlformats.org/officeDocument/2006/relationships/hyperlink" Target="https://twitter.com/PopBase/status/1691621955953459447?ref_src=twsrc%5Etfw" TargetMode="External"/><Relationship Id="rId5" Type="http://schemas.openxmlformats.org/officeDocument/2006/relationships/hyperlink" Target="https://www.prompt.security/blog/8-real-world-incidents-related-to-ai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x.com/ChrisJBakke/status/1736533308849443121" TargetMode="External"/><Relationship Id="rId3" Type="http://schemas.openxmlformats.org/officeDocument/2006/relationships/hyperlink" Target="https://www.upworthy.com/prankster-tricks-a-gm-dealership-chatbot-to-sell-him-a-76000-chevy-tahoe-for-1-rp2" TargetMode="External"/><Relationship Id="rId4" Type="http://schemas.openxmlformats.org/officeDocument/2006/relationships/hyperlink" Target="https://t.co/aq4wDitvQW" TargetMode="External"/><Relationship Id="rId5" Type="http://schemas.openxmlformats.org/officeDocument/2006/relationships/hyperlink" Target="https://twitter.com/ChrisJBakke/status/1736533308849443121?ref_src=twsrc%5Etfw" TargetMode="External"/><Relationship Id="rId6" Type="http://schemas.openxmlformats.org/officeDocument/2006/relationships/hyperlink" Target="https://www.prompt.security/blog/8-real-world-incidents-related-to-ai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bbc.com/news/technology-68025677" TargetMode="External"/><Relationship Id="rId3" Type="http://schemas.openxmlformats.org/officeDocument/2006/relationships/hyperlink" Target="https://www.prompt.security/blog/8-real-world-incidents-related-to-ai" TargetMode="Externa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washingtonpost.com/travel/2024/02/18/air-canada-airline-chatbot-ruling/" TargetMode="External"/><Relationship Id="rId3" Type="http://schemas.openxmlformats.org/officeDocument/2006/relationships/hyperlink" Target="https://www.prompt.security/blog/8-real-world-incidents-related-to-ai" TargetMode="Externa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anyscale.com/blog/update-on-ray-cves-cve-2023-6019-cve-2023-6020-cve-2023-6021-cve-2023-48022-cve-2023-48023" TargetMode="External"/><Relationship Id="rId3" Type="http://schemas.openxmlformats.org/officeDocument/2006/relationships/hyperlink" Target="https://nvd.nist.gov/vuln/detail/CVE-2023-48022" TargetMode="External"/><Relationship Id="rId4" Type="http://schemas.openxmlformats.org/officeDocument/2006/relationships/hyperlink" Target="http://www.oligo.security/blog/shadowray-attack-ai-workloads-actively-exploited-in-the-wild" TargetMode="External"/><Relationship Id="rId5" Type="http://schemas.openxmlformats.org/officeDocument/2006/relationships/hyperlink" Target="https://www.prompt.security/blog/8-real-world-incidents-related-to-ai" TargetMode="Externa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oligo.security/blog/shelltorch-explained-multiple-vulnerabilities-in-pytorch-model-server" TargetMode="External"/><Relationship Id="rId3" Type="http://schemas.openxmlformats.org/officeDocument/2006/relationships/hyperlink" Target="https://www.prompt.security/blog/8-real-world-incidents-related-to-ai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rompt.security/vulnerabilities/prompt-injection" TargetMode="External"/><Relationship Id="rId3" Type="http://schemas.openxmlformats.org/officeDocument/2006/relationships/hyperlink" Target="https://www.theregister.com/2024/08/21/slack_ai_prompt_injection/" TargetMode="External"/><Relationship Id="rId4" Type="http://schemas.openxmlformats.org/officeDocument/2006/relationships/hyperlink" Target="https://www.prompt.security/blog/8-real-world-incidents-related-to-ai" TargetMode="Externa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hyperlink" Target="https://www.linkedin.com/pulse/real-story-behind-ai-security-incidents-caleb-sima-ge4yc" TargetMode="Externa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www.linkedin.com/pulse/real-story-behind-ai-security-incidents-caleb-sima-ge4yc" TargetMode="Externa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prompt.security/vulnerabilities/prompt-injection" TargetMode="Externa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rompt.security/blog/prompt-injection-101" TargetMode="Externa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hyperlink" Target="https://www.prompt.security/blog/prompt-injection-101" TargetMode="Externa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rompt.security/blog/prompt-injection-101" TargetMode="Externa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www.prompt.security/blog/prompt-injection-101" TargetMode="Externa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rowdstrike.com/en-us/cybersecurity-101/cyberattacks/data-poisoning/" TargetMode="Externa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inkedin.com/pulse/real-story-behind-ai-security-incidents-caleb-sima-ge4yc/" TargetMode="Externa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Relationship Id="rId3" Type="http://schemas.openxmlformats.org/officeDocument/2006/relationships/hyperlink" Target="https://mindgard.ai/blog/ai-under-attack-six-key-adversarial-attacks-and-their-consequences" TargetMode="Externa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hyperlink" Target="https://mindgard.ai/blog/ai-under-attack-six-key-adversarial-attacks-and-their-consequences" TargetMode="Externa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Relationship Id="rId3" Type="http://schemas.openxmlformats.org/officeDocument/2006/relationships/hyperlink" Target="https://mindgard.ai/blog/ai-under-attack-six-key-adversarial-attacks-and-their-consequences" TargetMode="Externa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hyperlink" Target="https://mindgard.ai/blog/ai-under-attack-six-key-adversarial-attacks-and-their-consequences" TargetMode="Externa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ndgard.ai/blog/ai-under-attack-six-key-adversarial-attacks-and-their-consequences#prompt-injection" TargetMode="Externa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ndgard.ai/blog/ai-under-attack-six-key-adversarial-attacks-and-their-consequences#poisoning-attacks" TargetMode="Externa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mindgard.ai/blog/ai-under-attack-six-key-adversarial-attacks-and-their-consequences#model-inversion-attacks" TargetMode="Externa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hyperlink" Target="https://mindgard.ai/blog/ai-under-attack-six-key-adversarial-attacks-and-their-consequences#model-inversion-attacks" TargetMode="Externa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hyperlink" Target="https://mindgard.ai/blog/ai-under-attack-six-key-adversarial-attacks-and-their-consequences#model-stealing-attacks" TargetMode="Externa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ndgard.ai/blog/ai-under-attack-six-key-adversarial-attacks-and-their-consequences#membership-inference-attacks" TargetMode="External"/><Relationship Id="rId3" Type="http://schemas.openxmlformats.org/officeDocument/2006/relationships/image" Target="../media/image10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hyperlink" Target="https://www.ibm.com/products/tutorials/ibm-framework-for-securing-generative-ai" TargetMode="Externa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hyperlink" Target="https://www.ibm.com/products/tutorials/ibm-framework-for-securing-generative-ai" TargetMode="Externa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iso.org/standard/81230.html" TargetMode="External"/><Relationship Id="rId3" Type="http://schemas.openxmlformats.org/officeDocument/2006/relationships/hyperlink" Target="https://www.nist.gov/itl/ai-risk-management-framework" TargetMode="External"/><Relationship Id="rId4" Type="http://schemas.openxmlformats.org/officeDocument/2006/relationships/hyperlink" Target="https://artificialintelligenceact.eu/" TargetMode="Externa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7823" y="1087373"/>
            <a:ext cx="7105650" cy="1610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60930" marR="5080" indent="-2348865">
              <a:lnSpc>
                <a:spcPct val="100000"/>
              </a:lnSpc>
              <a:spcBef>
                <a:spcPts val="100"/>
              </a:spcBef>
            </a:pPr>
            <a:r>
              <a:rPr dirty="0" sz="5200"/>
              <a:t>Artificial</a:t>
            </a:r>
            <a:r>
              <a:rPr dirty="0" sz="5200" spc="-60"/>
              <a:t> </a:t>
            </a:r>
            <a:r>
              <a:rPr dirty="0" sz="5200"/>
              <a:t>Intelligence</a:t>
            </a:r>
            <a:r>
              <a:rPr dirty="0" sz="5200" spc="-60"/>
              <a:t> </a:t>
            </a:r>
            <a:r>
              <a:rPr dirty="0" sz="5200" spc="-20"/>
              <a:t>(AI) </a:t>
            </a:r>
            <a:r>
              <a:rPr dirty="0" sz="5200" spc="-10"/>
              <a:t>Security</a:t>
            </a:r>
            <a:endParaRPr sz="5200"/>
          </a:p>
        </p:txBody>
      </p:sp>
      <p:sp>
        <p:nvSpPr>
          <p:cNvPr id="3" name="object 3" descr=""/>
          <p:cNvSpPr txBox="1"/>
          <p:nvPr/>
        </p:nvSpPr>
        <p:spPr>
          <a:xfrm>
            <a:off x="3452545" y="2892926"/>
            <a:ext cx="2237740" cy="721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595959"/>
                </a:solidFill>
                <a:latin typeface="Arial MT"/>
                <a:cs typeface="Arial MT"/>
              </a:rPr>
              <a:t>Salman</a:t>
            </a:r>
            <a:r>
              <a:rPr dirty="0" sz="2800" spc="-1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595959"/>
                </a:solidFill>
                <a:latin typeface="Arial MT"/>
                <a:cs typeface="Arial MT"/>
              </a:rPr>
              <a:t>Baset</a:t>
            </a:r>
            <a:endParaRPr sz="28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  <a:spcBef>
                <a:spcPts val="75"/>
              </a:spcBef>
            </a:pPr>
            <a:r>
              <a:rPr dirty="0" sz="1700">
                <a:solidFill>
                  <a:srgbClr val="595959"/>
                </a:solidFill>
                <a:latin typeface="Arial MT"/>
                <a:cs typeface="Arial MT"/>
              </a:rPr>
              <a:t>April</a:t>
            </a:r>
            <a:r>
              <a:rPr dirty="0" sz="170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595959"/>
                </a:solidFill>
                <a:latin typeface="Arial MT"/>
                <a:cs typeface="Arial MT"/>
              </a:rPr>
              <a:t>17,</a:t>
            </a:r>
            <a:r>
              <a:rPr dirty="0" sz="170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Arial MT"/>
                <a:cs typeface="Arial MT"/>
              </a:rPr>
              <a:t>2025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3618229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Introduction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</a:t>
            </a:r>
            <a:r>
              <a:rPr dirty="0" sz="18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Vectors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deep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dive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Defense</a:t>
            </a:r>
            <a:r>
              <a:rPr dirty="0" sz="1800" spc="-6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Techniques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Ethical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Legal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Landscape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Future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1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Introduction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165"/>
              <a:t> </a:t>
            </a:r>
            <a:r>
              <a:rPr dirty="0"/>
              <a:t>Artificial</a:t>
            </a:r>
            <a:r>
              <a:rPr dirty="0" spc="-35"/>
              <a:t> </a:t>
            </a:r>
            <a:r>
              <a:rPr dirty="0"/>
              <a:t>Intelligence</a:t>
            </a:r>
            <a:r>
              <a:rPr dirty="0" spc="-35"/>
              <a:t> </a:t>
            </a:r>
            <a:r>
              <a:rPr dirty="0"/>
              <a:t>(AI)</a:t>
            </a:r>
            <a:r>
              <a:rPr dirty="0" spc="-30"/>
              <a:t> </a:t>
            </a:r>
            <a:r>
              <a:rPr dirty="0" spc="-10"/>
              <a:t>Security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2676" y="1175208"/>
            <a:ext cx="4140835" cy="223393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Definition:</a:t>
            </a:r>
            <a:r>
              <a:rPr dirty="0" sz="1800" spc="-1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Artificial</a:t>
            </a:r>
            <a:r>
              <a:rPr dirty="0" sz="1800" spc="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Intelligence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Definition: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Generative</a:t>
            </a:r>
            <a:r>
              <a:rPr dirty="0" sz="1800" spc="-1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Definition:</a:t>
            </a:r>
            <a:r>
              <a:rPr dirty="0" sz="18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Cybersecurity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Definition:</a:t>
            </a:r>
            <a:r>
              <a:rPr dirty="0" sz="18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Privacy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-1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Security?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Real-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world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“AI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vulnerabilities”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431800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Real-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world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story</a:t>
            </a:r>
            <a:r>
              <a:rPr dirty="0" sz="1800" spc="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behind</a:t>
            </a:r>
            <a:r>
              <a:rPr dirty="0" sz="1800" spc="-9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accidents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Artificial</a:t>
            </a:r>
            <a:r>
              <a:rPr dirty="0" spc="-50"/>
              <a:t> </a:t>
            </a:r>
            <a:r>
              <a:rPr dirty="0"/>
              <a:t>Intelligence</a:t>
            </a:r>
            <a:r>
              <a:rPr dirty="0" spc="-50"/>
              <a:t> </a:t>
            </a:r>
            <a:r>
              <a:rPr dirty="0" spc="-10"/>
              <a:t>Definition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2927"/>
            <a:ext cx="8230870" cy="178371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USCode</a:t>
            </a:r>
            <a:r>
              <a:rPr dirty="0" sz="11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Title</a:t>
            </a:r>
            <a:r>
              <a:rPr dirty="0" sz="110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15,</a:t>
            </a:r>
            <a:r>
              <a:rPr dirty="0" sz="110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Chapter</a:t>
            </a:r>
            <a:r>
              <a:rPr dirty="0" sz="110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119,</a:t>
            </a:r>
            <a:r>
              <a:rPr dirty="0" sz="110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9401</a:t>
            </a:r>
            <a:r>
              <a:rPr dirty="0" sz="110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(15</a:t>
            </a:r>
            <a:r>
              <a:rPr dirty="0" sz="110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U.S.C.</a:t>
            </a:r>
            <a:r>
              <a:rPr dirty="0" sz="110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9401(3))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ts val="1280"/>
              </a:lnSpc>
              <a:spcBef>
                <a:spcPts val="1235"/>
              </a:spcBef>
            </a:pP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term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"artificial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intelligence"</a:t>
            </a:r>
            <a:r>
              <a:rPr dirty="0" sz="110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means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machine-based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system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can,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given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set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human-defined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objectives,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make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predictions,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recommendations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decisions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influencing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real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virtual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environments.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Artificial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intelligence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systems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use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machine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and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human-based</a:t>
            </a:r>
            <a:r>
              <a:rPr dirty="0" sz="1100" spc="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inputs</a:t>
            </a:r>
            <a:r>
              <a:rPr dirty="0" sz="1100" spc="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to-</a:t>
            </a:r>
            <a:endParaRPr sz="11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135"/>
              </a:spcBef>
              <a:buAutoNum type="alphaUcParenBoth"/>
              <a:tabLst>
                <a:tab pos="241300" algn="l"/>
              </a:tabLst>
            </a:pP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perceive</a:t>
            </a:r>
            <a:r>
              <a:rPr dirty="0" sz="110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real</a:t>
            </a:r>
            <a:r>
              <a:rPr dirty="0" sz="110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10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virtual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environments;</a:t>
            </a:r>
            <a:endParaRPr sz="11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160"/>
              </a:spcBef>
              <a:buAutoNum type="alphaUcParenBoth"/>
              <a:tabLst>
                <a:tab pos="241300" algn="l"/>
              </a:tabLst>
            </a:pP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abstract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such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perceptions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into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models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through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analysis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dirty="0" sz="1100" spc="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automated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manner;</a:t>
            </a:r>
            <a:r>
              <a:rPr dirty="0" sz="11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endParaRPr sz="1100">
              <a:latin typeface="Arial MT"/>
              <a:cs typeface="Arial MT"/>
            </a:endParaRPr>
          </a:p>
          <a:p>
            <a:pPr marL="249554" indent="-236854">
              <a:lnSpc>
                <a:spcPct val="100000"/>
              </a:lnSpc>
              <a:spcBef>
                <a:spcPts val="1165"/>
              </a:spcBef>
              <a:buAutoNum type="alphaUcParenBoth"/>
              <a:tabLst>
                <a:tab pos="249554" algn="l"/>
              </a:tabLst>
            </a:pP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use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inference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formulate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options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dirty="0" sz="11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action.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4725" y="3430346"/>
            <a:ext cx="3122295" cy="36004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00"/>
              </a:spcBef>
            </a:pP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United</a:t>
            </a:r>
            <a:r>
              <a:rPr dirty="0" sz="1100" spc="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States</a:t>
            </a:r>
            <a:r>
              <a:rPr dirty="0" sz="1100" spc="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Code </a:t>
            </a:r>
            <a:r>
              <a:rPr dirty="0" u="heavy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https://en.wikipedia.org/wiki/United_States_Code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Generative</a:t>
            </a:r>
            <a:r>
              <a:rPr dirty="0" spc="-120"/>
              <a:t> </a:t>
            </a:r>
            <a:r>
              <a:rPr dirty="0"/>
              <a:t>AI</a:t>
            </a:r>
            <a:r>
              <a:rPr dirty="0" spc="30"/>
              <a:t> </a:t>
            </a:r>
            <a:r>
              <a:rPr dirty="0" spc="-10"/>
              <a:t>Definition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8187055" cy="97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term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"generative</a:t>
            </a:r>
            <a:r>
              <a:rPr dirty="0" sz="1800" spc="-10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AI"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means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class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emulate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structure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characteristics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order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generate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derived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synthetic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content.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include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images,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videos,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audio,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text,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other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digital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content.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4725" y="2786584"/>
            <a:ext cx="7440930" cy="538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Ex.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Ord.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No.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14110.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Safe,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Secure,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Trustworthy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Development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Use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Artificial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Intelligence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-10" b="1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https://uscode.house.gov/view.xhtml?req=(title:15%20section:9401%20edition:prelim)#executivedocument-</a:t>
            </a:r>
            <a:r>
              <a:rPr dirty="0" u="sng" sz="1100" spc="-20" b="1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note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Cybersecurity:</a:t>
            </a:r>
            <a:r>
              <a:rPr dirty="0" spc="-65"/>
              <a:t> </a:t>
            </a:r>
            <a:r>
              <a:rPr dirty="0" spc="-10"/>
              <a:t>Definition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National</a:t>
            </a:r>
            <a:r>
              <a:rPr dirty="0" sz="1800" spc="-25"/>
              <a:t> </a:t>
            </a:r>
            <a:r>
              <a:rPr dirty="0" sz="1800"/>
              <a:t>Institute</a:t>
            </a:r>
            <a:r>
              <a:rPr dirty="0" sz="1800" spc="-20"/>
              <a:t> </a:t>
            </a:r>
            <a:r>
              <a:rPr dirty="0" sz="1800"/>
              <a:t>of</a:t>
            </a:r>
            <a:r>
              <a:rPr dirty="0" sz="1800" spc="-20"/>
              <a:t> </a:t>
            </a:r>
            <a:r>
              <a:rPr dirty="0" sz="1800"/>
              <a:t>Standards</a:t>
            </a:r>
            <a:r>
              <a:rPr dirty="0" sz="1800" spc="-20"/>
              <a:t> </a:t>
            </a:r>
            <a:r>
              <a:rPr dirty="0" sz="1800"/>
              <a:t>&amp;</a:t>
            </a:r>
            <a:r>
              <a:rPr dirty="0" sz="1800" spc="-55"/>
              <a:t> </a:t>
            </a:r>
            <a:r>
              <a:rPr dirty="0" sz="1800" spc="-20"/>
              <a:t>Technology </a:t>
            </a:r>
            <a:r>
              <a:rPr dirty="0" sz="1800" spc="-10"/>
              <a:t>(NIST)</a:t>
            </a:r>
            <a:endParaRPr sz="1800"/>
          </a:p>
          <a:p>
            <a:pPr marL="12700" marR="5080">
              <a:lnSpc>
                <a:spcPct val="105000"/>
              </a:lnSpc>
              <a:spcBef>
                <a:spcPts val="1200"/>
              </a:spcBef>
            </a:pPr>
            <a:r>
              <a:rPr dirty="0" sz="1800"/>
              <a:t>The</a:t>
            </a:r>
            <a:r>
              <a:rPr dirty="0" sz="1800" spc="-40"/>
              <a:t> </a:t>
            </a:r>
            <a:r>
              <a:rPr dirty="0" sz="1800"/>
              <a:t>prevention</a:t>
            </a:r>
            <a:r>
              <a:rPr dirty="0" sz="1800" spc="-25"/>
              <a:t> </a:t>
            </a:r>
            <a:r>
              <a:rPr dirty="0" sz="1800"/>
              <a:t>of</a:t>
            </a:r>
            <a:r>
              <a:rPr dirty="0" sz="1800" spc="-25"/>
              <a:t> </a:t>
            </a:r>
            <a:r>
              <a:rPr dirty="0" sz="1800"/>
              <a:t>damage</a:t>
            </a:r>
            <a:r>
              <a:rPr dirty="0" sz="1800" spc="-30"/>
              <a:t> </a:t>
            </a:r>
            <a:r>
              <a:rPr dirty="0" sz="1800"/>
              <a:t>to,</a:t>
            </a:r>
            <a:r>
              <a:rPr dirty="0" sz="1800" spc="-25"/>
              <a:t> </a:t>
            </a:r>
            <a:r>
              <a:rPr dirty="0" sz="1800"/>
              <a:t>protection</a:t>
            </a:r>
            <a:r>
              <a:rPr dirty="0" sz="1800" spc="-25"/>
              <a:t> </a:t>
            </a:r>
            <a:r>
              <a:rPr dirty="0" sz="1800"/>
              <a:t>of,</a:t>
            </a:r>
            <a:r>
              <a:rPr dirty="0" sz="1800" spc="-30"/>
              <a:t> </a:t>
            </a:r>
            <a:r>
              <a:rPr dirty="0" sz="1800"/>
              <a:t>and</a:t>
            </a:r>
            <a:r>
              <a:rPr dirty="0" sz="1800" spc="-25"/>
              <a:t> </a:t>
            </a:r>
            <a:r>
              <a:rPr dirty="0" sz="1800"/>
              <a:t>restoration</a:t>
            </a:r>
            <a:r>
              <a:rPr dirty="0" sz="1800" spc="-25"/>
              <a:t> </a:t>
            </a:r>
            <a:r>
              <a:rPr dirty="0" sz="1800"/>
              <a:t>of</a:t>
            </a:r>
            <a:r>
              <a:rPr dirty="0" sz="1800" spc="-25"/>
              <a:t> </a:t>
            </a:r>
            <a:r>
              <a:rPr dirty="0" sz="1800" spc="-10"/>
              <a:t>computers, </a:t>
            </a:r>
            <a:r>
              <a:rPr dirty="0" sz="1800"/>
              <a:t>electronic</a:t>
            </a:r>
            <a:r>
              <a:rPr dirty="0" sz="1800" spc="-30"/>
              <a:t> </a:t>
            </a:r>
            <a:r>
              <a:rPr dirty="0" sz="1800"/>
              <a:t>communications</a:t>
            </a:r>
            <a:r>
              <a:rPr dirty="0" sz="1800" spc="-15"/>
              <a:t> </a:t>
            </a:r>
            <a:r>
              <a:rPr dirty="0" sz="1800"/>
              <a:t>systems,</a:t>
            </a:r>
            <a:r>
              <a:rPr dirty="0" sz="1800" spc="-20"/>
              <a:t> </a:t>
            </a:r>
            <a:r>
              <a:rPr dirty="0" sz="1800"/>
              <a:t>electronic</a:t>
            </a:r>
            <a:r>
              <a:rPr dirty="0" sz="1800" spc="-15"/>
              <a:t> </a:t>
            </a:r>
            <a:r>
              <a:rPr dirty="0" sz="1800"/>
              <a:t>communications</a:t>
            </a:r>
            <a:r>
              <a:rPr dirty="0" sz="1800" spc="-20"/>
              <a:t> </a:t>
            </a:r>
            <a:r>
              <a:rPr dirty="0" sz="1800"/>
              <a:t>services,</a:t>
            </a:r>
            <a:r>
              <a:rPr dirty="0" sz="1800" spc="-15"/>
              <a:t> </a:t>
            </a:r>
            <a:r>
              <a:rPr dirty="0" sz="1800" spc="-20"/>
              <a:t>wire </a:t>
            </a:r>
            <a:r>
              <a:rPr dirty="0" sz="1800"/>
              <a:t>communication,</a:t>
            </a:r>
            <a:r>
              <a:rPr dirty="0" sz="1800" spc="-45"/>
              <a:t> </a:t>
            </a:r>
            <a:r>
              <a:rPr dirty="0" sz="1800"/>
              <a:t>and</a:t>
            </a:r>
            <a:r>
              <a:rPr dirty="0" sz="1800" spc="-45"/>
              <a:t> </a:t>
            </a:r>
            <a:r>
              <a:rPr dirty="0" sz="1800"/>
              <a:t>electronic</a:t>
            </a:r>
            <a:r>
              <a:rPr dirty="0" sz="1800" spc="-40"/>
              <a:t> </a:t>
            </a:r>
            <a:r>
              <a:rPr dirty="0" sz="1800"/>
              <a:t>communication,</a:t>
            </a:r>
            <a:r>
              <a:rPr dirty="0" sz="1800" spc="-45"/>
              <a:t> </a:t>
            </a:r>
            <a:r>
              <a:rPr dirty="0" sz="1800"/>
              <a:t>including</a:t>
            </a:r>
            <a:r>
              <a:rPr dirty="0" sz="1800" spc="-45"/>
              <a:t> </a:t>
            </a:r>
            <a:r>
              <a:rPr dirty="0" sz="1800"/>
              <a:t>information</a:t>
            </a:r>
            <a:r>
              <a:rPr dirty="0" sz="1800" spc="-40"/>
              <a:t> </a:t>
            </a:r>
            <a:r>
              <a:rPr dirty="0" sz="1800" spc="-10"/>
              <a:t>contained </a:t>
            </a:r>
            <a:r>
              <a:rPr dirty="0" sz="1800"/>
              <a:t>therein,</a:t>
            </a:r>
            <a:r>
              <a:rPr dirty="0" sz="1800" spc="-45"/>
              <a:t> </a:t>
            </a:r>
            <a:r>
              <a:rPr dirty="0" sz="1800"/>
              <a:t>to</a:t>
            </a:r>
            <a:r>
              <a:rPr dirty="0" sz="1800" spc="-45"/>
              <a:t> </a:t>
            </a:r>
            <a:r>
              <a:rPr dirty="0" sz="1800"/>
              <a:t>ensure</a:t>
            </a:r>
            <a:r>
              <a:rPr dirty="0" sz="1800" spc="-40"/>
              <a:t> </a:t>
            </a:r>
            <a:r>
              <a:rPr dirty="0" sz="1800"/>
              <a:t>its</a:t>
            </a:r>
            <a:r>
              <a:rPr dirty="0" sz="1800" spc="-25"/>
              <a:t> </a:t>
            </a:r>
            <a:r>
              <a:rPr dirty="0" u="heavy" sz="1800" b="1"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availability</a:t>
            </a:r>
            <a:r>
              <a:rPr dirty="0" sz="1800"/>
              <a:t>,</a:t>
            </a:r>
            <a:r>
              <a:rPr dirty="0" sz="1800" spc="-35"/>
              <a:t> </a:t>
            </a:r>
            <a:r>
              <a:rPr dirty="0" u="heavy" sz="1800" b="1"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integrity</a:t>
            </a:r>
            <a:r>
              <a:rPr dirty="0" sz="1800"/>
              <a:t>,</a:t>
            </a:r>
            <a:r>
              <a:rPr dirty="0" sz="1800" spc="-45"/>
              <a:t> </a:t>
            </a:r>
            <a:r>
              <a:rPr dirty="0" sz="1800"/>
              <a:t>authentications,</a:t>
            </a:r>
            <a:r>
              <a:rPr dirty="0" sz="1800" spc="-15"/>
              <a:t> </a:t>
            </a:r>
            <a:r>
              <a:rPr dirty="0" u="heavy" sz="1800" b="1"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confidentiality</a:t>
            </a:r>
            <a:r>
              <a:rPr dirty="0" sz="1800"/>
              <a:t>,</a:t>
            </a:r>
            <a:r>
              <a:rPr dirty="0" sz="1800" spc="-40"/>
              <a:t> </a:t>
            </a:r>
            <a:r>
              <a:rPr dirty="0" sz="1800" spc="-25"/>
              <a:t>and </a:t>
            </a:r>
            <a:r>
              <a:rPr dirty="0" u="heavy" sz="1800" spc="-10" b="1"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nonrepudiation</a:t>
            </a:r>
            <a:r>
              <a:rPr dirty="0" sz="1800" spc="-10"/>
              <a:t>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u="heavy" sz="12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https://csrc.nist.gov/glossary/term/cybersecurity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Cybersecurity:</a:t>
            </a:r>
            <a:r>
              <a:rPr dirty="0" spc="-65"/>
              <a:t> </a:t>
            </a:r>
            <a:r>
              <a:rPr dirty="0" spc="-10"/>
              <a:t>Definition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8359775" cy="2691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653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Confidentiality: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Only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entities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(e.g.,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persons)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have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right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information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it.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Integrity: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Protecting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being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changed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damaged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way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isn't right.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Availability: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system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up</a:t>
            </a:r>
            <a:endParaRPr sz="1800">
              <a:latin typeface="Arial MT"/>
              <a:cs typeface="Arial MT"/>
            </a:endParaRPr>
          </a:p>
          <a:p>
            <a:pPr marL="12700" marR="570230">
              <a:lnSpc>
                <a:spcPct val="114999"/>
              </a:lnSpc>
              <a:spcBef>
                <a:spcPts val="1205"/>
              </a:spcBef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Non-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repudiation: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Entity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(e.g.,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person)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sends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given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proof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of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delivery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recipient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given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proof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sender's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identity.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3125" y="4636311"/>
            <a:ext cx="52806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https://www.securityscientist.net/blog/the-definition-of-cybersecurity-according-to-nist/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Privacy:</a:t>
            </a:r>
            <a:r>
              <a:rPr dirty="0" spc="-45"/>
              <a:t> </a:t>
            </a:r>
            <a:r>
              <a:rPr dirty="0" spc="-10"/>
              <a:t>Definition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National</a:t>
            </a:r>
            <a:r>
              <a:rPr dirty="0" sz="1800" spc="-25"/>
              <a:t> </a:t>
            </a:r>
            <a:r>
              <a:rPr dirty="0" sz="1800"/>
              <a:t>Institute</a:t>
            </a:r>
            <a:r>
              <a:rPr dirty="0" sz="1800" spc="-20"/>
              <a:t> </a:t>
            </a:r>
            <a:r>
              <a:rPr dirty="0" sz="1800"/>
              <a:t>of</a:t>
            </a:r>
            <a:r>
              <a:rPr dirty="0" sz="1800" spc="-20"/>
              <a:t> </a:t>
            </a:r>
            <a:r>
              <a:rPr dirty="0" sz="1800"/>
              <a:t>Standards</a:t>
            </a:r>
            <a:r>
              <a:rPr dirty="0" sz="1800" spc="-20"/>
              <a:t> </a:t>
            </a:r>
            <a:r>
              <a:rPr dirty="0" sz="1800"/>
              <a:t>&amp;</a:t>
            </a:r>
            <a:r>
              <a:rPr dirty="0" sz="1800" spc="-55"/>
              <a:t> </a:t>
            </a:r>
            <a:r>
              <a:rPr dirty="0" sz="1800" spc="-20"/>
              <a:t>Technology </a:t>
            </a:r>
            <a:r>
              <a:rPr dirty="0" sz="1800" spc="-10"/>
              <a:t>(NIST)</a:t>
            </a:r>
            <a:endParaRPr sz="1800"/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800"/>
              <a:t>Assurance</a:t>
            </a:r>
            <a:r>
              <a:rPr dirty="0" sz="1800" spc="-35"/>
              <a:t> </a:t>
            </a:r>
            <a:r>
              <a:rPr dirty="0" sz="1800"/>
              <a:t>that</a:t>
            </a:r>
            <a:r>
              <a:rPr dirty="0" sz="1800" spc="-25"/>
              <a:t> </a:t>
            </a:r>
            <a:r>
              <a:rPr dirty="0" sz="1800"/>
              <a:t>the</a:t>
            </a:r>
            <a:r>
              <a:rPr dirty="0" sz="1800" spc="-20"/>
              <a:t> </a:t>
            </a:r>
            <a:r>
              <a:rPr dirty="0" sz="1800"/>
              <a:t>confidentiality</a:t>
            </a:r>
            <a:r>
              <a:rPr dirty="0" sz="1800" spc="-25"/>
              <a:t> </a:t>
            </a:r>
            <a:r>
              <a:rPr dirty="0" sz="1800"/>
              <a:t>of,</a:t>
            </a:r>
            <a:r>
              <a:rPr dirty="0" sz="1800" spc="-20"/>
              <a:t> </a:t>
            </a:r>
            <a:r>
              <a:rPr dirty="0" sz="1800"/>
              <a:t>and</a:t>
            </a:r>
            <a:r>
              <a:rPr dirty="0" sz="1800" spc="-25"/>
              <a:t> </a:t>
            </a:r>
            <a:r>
              <a:rPr dirty="0" sz="1800"/>
              <a:t>access</a:t>
            </a:r>
            <a:r>
              <a:rPr dirty="0" sz="1800" spc="-20"/>
              <a:t> </a:t>
            </a:r>
            <a:r>
              <a:rPr dirty="0" sz="1800"/>
              <a:t>to,</a:t>
            </a:r>
            <a:r>
              <a:rPr dirty="0" sz="1800" spc="-25"/>
              <a:t> </a:t>
            </a:r>
            <a:r>
              <a:rPr dirty="0" sz="1800"/>
              <a:t>certain</a:t>
            </a:r>
            <a:r>
              <a:rPr dirty="0" sz="1800" spc="-20"/>
              <a:t> </a:t>
            </a:r>
            <a:r>
              <a:rPr dirty="0" sz="1800"/>
              <a:t>information</a:t>
            </a:r>
            <a:r>
              <a:rPr dirty="0" sz="1800" spc="-25"/>
              <a:t> </a:t>
            </a:r>
            <a:r>
              <a:rPr dirty="0" sz="1800"/>
              <a:t>about</a:t>
            </a:r>
            <a:r>
              <a:rPr dirty="0" sz="1800" spc="-20"/>
              <a:t> </a:t>
            </a:r>
            <a:r>
              <a:rPr dirty="0" sz="1800" spc="-25"/>
              <a:t>an </a:t>
            </a:r>
            <a:r>
              <a:rPr dirty="0" sz="1800"/>
              <a:t>entity</a:t>
            </a:r>
            <a:r>
              <a:rPr dirty="0" sz="1800" spc="-5"/>
              <a:t> </a:t>
            </a:r>
            <a:r>
              <a:rPr dirty="0" sz="1800"/>
              <a:t>is</a:t>
            </a:r>
            <a:r>
              <a:rPr dirty="0" sz="1800" spc="-5"/>
              <a:t> </a:t>
            </a:r>
            <a:r>
              <a:rPr dirty="0" sz="1800" spc="-10"/>
              <a:t>protected.</a:t>
            </a:r>
            <a:endParaRPr sz="1800"/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u="heavy" sz="12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https://csrc.nist.gov/glossary/term/privacy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What</a:t>
            </a:r>
            <a:r>
              <a:rPr dirty="0" spc="-5"/>
              <a:t> </a:t>
            </a:r>
            <a:r>
              <a:rPr dirty="0"/>
              <a:t>is</a:t>
            </a:r>
            <a:r>
              <a:rPr dirty="0" spc="-140"/>
              <a:t> </a:t>
            </a:r>
            <a:r>
              <a:rPr dirty="0"/>
              <a:t>AI </a:t>
            </a:r>
            <a:r>
              <a:rPr dirty="0" spc="-10"/>
              <a:t>Security?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066699"/>
            <a:ext cx="8368665" cy="245935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Covers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two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main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areas</a:t>
            </a:r>
            <a:endParaRPr sz="1800">
              <a:latin typeface="Arial MT"/>
              <a:cs typeface="Arial MT"/>
            </a:endParaRPr>
          </a:p>
          <a:p>
            <a:pPr marL="469900" marR="5080" indent="-419734">
              <a:lnSpc>
                <a:spcPts val="2050"/>
              </a:lnSpc>
              <a:spcBef>
                <a:spcPts val="1250"/>
              </a:spcBef>
              <a:buAutoNum type="arabicPeriod"/>
              <a:tabLst>
                <a:tab pos="4699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refers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practices,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technologies,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frameworks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used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protect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artificial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intelligence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systems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threats—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ensure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operate safely,</a:t>
            </a:r>
            <a:r>
              <a:rPr dirty="0" sz="18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reliably,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ethically.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05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(Source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ChatGPT)</a:t>
            </a:r>
            <a:endParaRPr sz="1800">
              <a:latin typeface="Arial MT"/>
              <a:cs typeface="Arial MT"/>
            </a:endParaRPr>
          </a:p>
          <a:p>
            <a:pPr marL="469900" marR="485140" indent="-419734">
              <a:lnSpc>
                <a:spcPts val="2050"/>
              </a:lnSpc>
              <a:spcBef>
                <a:spcPts val="1250"/>
              </a:spcBef>
              <a:buAutoNum type="arabicPeriod" startAt="2"/>
              <a:tabLst>
                <a:tab pos="4699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Cybersecurity.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process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dirty="0" sz="1800" spc="-11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enhance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organization's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posture.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2300" y="4278995"/>
            <a:ext cx="4555490" cy="505459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"/>
              </a:spcBef>
            </a:pPr>
            <a:r>
              <a:rPr dirty="0" u="sng" sz="10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https://www.salesforce.com/artificial-intelligence/ai-security/</a:t>
            </a:r>
            <a:r>
              <a:rPr dirty="0" sz="1000" spc="-10">
                <a:solidFill>
                  <a:srgbClr val="0097A7"/>
                </a:solidFill>
                <a:latin typeface="Arial MT"/>
                <a:cs typeface="Arial MT"/>
              </a:rPr>
              <a:t> </a:t>
            </a:r>
            <a:r>
              <a:rPr dirty="0" u="sng" sz="10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https://www.ibm.com/think/topics/ai-security</a:t>
            </a:r>
            <a:r>
              <a:rPr dirty="0" sz="1000" spc="-10">
                <a:solidFill>
                  <a:srgbClr val="0097A7"/>
                </a:solidFill>
                <a:latin typeface="Arial MT"/>
                <a:cs typeface="Arial MT"/>
              </a:rPr>
              <a:t> </a:t>
            </a:r>
            <a:r>
              <a:rPr dirty="0" u="sng" sz="10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https://www.ibm.com/products/tutorials/ibm-framework-for-securing-generative-</a:t>
            </a:r>
            <a:r>
              <a:rPr dirty="0" u="sng" sz="10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ai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384725" y="4744310"/>
            <a:ext cx="496062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u="heavy" sz="13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https://www.prompt.security/blog/8-real-world-incidents-related-to-</a:t>
            </a:r>
            <a:r>
              <a:rPr dirty="0" u="heavy" sz="13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ai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Real-</a:t>
            </a:r>
            <a:r>
              <a:rPr dirty="0"/>
              <a:t>world</a:t>
            </a:r>
            <a:r>
              <a:rPr dirty="0" spc="-5"/>
              <a:t> </a:t>
            </a:r>
            <a:r>
              <a:rPr dirty="0"/>
              <a:t>examples of</a:t>
            </a:r>
            <a:r>
              <a:rPr dirty="0" spc="-140"/>
              <a:t> </a:t>
            </a:r>
            <a:r>
              <a:rPr dirty="0"/>
              <a:t>AI </a:t>
            </a:r>
            <a:r>
              <a:rPr dirty="0" spc="-1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9911"/>
            <a:ext cx="8299450" cy="200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1.</a:t>
            </a:r>
            <a:r>
              <a:rPr dirty="0" sz="1100" spc="-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Amazon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data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used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training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January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2023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earliest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incidents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related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Generative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tools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employees,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Amazon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warned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employees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share confidential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information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ChatGPT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after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noticing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different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instances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which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responses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LLM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closely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resembled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sensitive </a:t>
            </a:r>
            <a:r>
              <a:rPr dirty="0" sz="1100">
                <a:latin typeface="Arial MT"/>
                <a:cs typeface="Arial MT"/>
              </a:rPr>
              <a:t>company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information,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which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probably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training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data.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research</a:t>
            </a:r>
            <a:r>
              <a:rPr dirty="0" u="sng" sz="11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by</a:t>
            </a:r>
            <a:r>
              <a:rPr dirty="0" u="sng" sz="1100" spc="-3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Walter</a:t>
            </a:r>
            <a:r>
              <a:rPr dirty="0" u="sng" sz="11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Haydock</a:t>
            </a:r>
            <a:r>
              <a:rPr dirty="0" sz="1100" spc="-30">
                <a:solidFill>
                  <a:srgbClr val="0097A7"/>
                </a:solidFill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estimated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losses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incident</a:t>
            </a:r>
            <a:r>
              <a:rPr dirty="0" sz="1100" spc="-25">
                <a:latin typeface="Arial MT"/>
                <a:cs typeface="Arial MT"/>
              </a:rPr>
              <a:t> at </a:t>
            </a:r>
            <a:r>
              <a:rPr dirty="0" sz="1100">
                <a:latin typeface="Arial MT"/>
                <a:cs typeface="Arial MT"/>
              </a:rPr>
              <a:t>over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$1M.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Read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more: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https://www.businessinsider.com/amazon-chatgpt-openai-warns-employees-not-share-confidential-information-microsoft-2023-</a:t>
            </a:r>
            <a:r>
              <a:rPr dirty="0" u="sng" sz="1100" spc="-5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1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Real-</a:t>
            </a:r>
            <a:r>
              <a:rPr dirty="0"/>
              <a:t>world</a:t>
            </a:r>
            <a:r>
              <a:rPr dirty="0" spc="-5"/>
              <a:t> </a:t>
            </a:r>
            <a:r>
              <a:rPr dirty="0"/>
              <a:t>examples of</a:t>
            </a:r>
            <a:r>
              <a:rPr dirty="0" spc="-140"/>
              <a:t> </a:t>
            </a:r>
            <a:r>
              <a:rPr dirty="0"/>
              <a:t>AI </a:t>
            </a:r>
            <a:r>
              <a:rPr dirty="0" spc="-1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9911"/>
            <a:ext cx="8039100" cy="161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2.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Google</a:t>
            </a:r>
            <a:r>
              <a:rPr dirty="0" sz="1100" spc="-20" b="1">
                <a:latin typeface="Arial"/>
                <a:cs typeface="Arial"/>
              </a:rPr>
              <a:t> Bard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February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2023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Shortly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after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launching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Bard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Google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encountered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credibility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issues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chatbot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provided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incorrect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information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during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 </a:t>
            </a:r>
            <a:r>
              <a:rPr dirty="0" sz="1100">
                <a:latin typeface="Arial MT"/>
                <a:cs typeface="Arial MT"/>
              </a:rPr>
              <a:t>demonstration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about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James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Webb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Space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Telescope.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error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caused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immediate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dive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7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Alphabet’s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stock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price,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wiping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latin typeface="Arial MT"/>
                <a:cs typeface="Arial MT"/>
              </a:rPr>
              <a:t>$100bn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company’s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value.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Arial MT"/>
                <a:cs typeface="Arial MT"/>
              </a:rPr>
              <a:t>Read</a:t>
            </a:r>
            <a:r>
              <a:rPr dirty="0" sz="1100" spc="19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more:</a:t>
            </a:r>
            <a:r>
              <a:rPr dirty="0" sz="1100" spc="195">
                <a:latin typeface="Arial MT"/>
                <a:cs typeface="Arial MT"/>
              </a:rPr>
              <a:t>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https://www.reuters.com/technology/google-ai-chatbot-bard-offers-inaccurate-information-company-ad-2023-02-</a:t>
            </a:r>
            <a:r>
              <a:rPr dirty="0" u="sng" sz="11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08/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5110" y="3017800"/>
            <a:ext cx="2689595" cy="16454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84725" y="4744310"/>
            <a:ext cx="496062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u="heavy" sz="13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https://www.prompt.security/blog/8-real-world-incidents-related-to-</a:t>
            </a:r>
            <a:r>
              <a:rPr dirty="0" u="heavy" sz="13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ai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384725" y="4744310"/>
            <a:ext cx="496062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u="heavy" sz="13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https://www.prompt.security/blog/8-real-world-incidents-related-to-</a:t>
            </a:r>
            <a:r>
              <a:rPr dirty="0" u="heavy" sz="13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ai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Real-</a:t>
            </a:r>
            <a:r>
              <a:rPr dirty="0"/>
              <a:t>world</a:t>
            </a:r>
            <a:r>
              <a:rPr dirty="0" spc="-5"/>
              <a:t> </a:t>
            </a:r>
            <a:r>
              <a:rPr dirty="0"/>
              <a:t>examples of</a:t>
            </a:r>
            <a:r>
              <a:rPr dirty="0" spc="-140"/>
              <a:t> </a:t>
            </a:r>
            <a:r>
              <a:rPr dirty="0"/>
              <a:t>AI </a:t>
            </a:r>
            <a:r>
              <a:rPr dirty="0" spc="-1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9911"/>
            <a:ext cx="7977505" cy="161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3.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Samsung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Data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Leak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via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ChatGPT</a:t>
            </a:r>
            <a:r>
              <a:rPr dirty="0" sz="1100" spc="-1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May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2023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Samsung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employees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accidentally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leaked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confidential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information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ChatGPT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review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internal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documents.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 </a:t>
            </a:r>
            <a:r>
              <a:rPr dirty="0" sz="1100">
                <a:latin typeface="Arial MT"/>
                <a:cs typeface="Arial MT"/>
              </a:rPr>
              <a:t>result,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Samsung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decided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generative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tools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across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company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prevent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future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breaches.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Read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more: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https://www.bloomberg.com/news/articles/2023-05-02/samsung-bans-chatgpt-and-other-generative-ai-use-by-staff-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after-</a:t>
            </a:r>
            <a:r>
              <a:rPr dirty="0" u="sng" sz="11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leak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384725" y="4744310"/>
            <a:ext cx="496062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u="heavy" sz="13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5"/>
              </a:rPr>
              <a:t>https://www.prompt.security/blog/8-real-world-incidents-related-to-</a:t>
            </a:r>
            <a:r>
              <a:rPr dirty="0" u="heavy" sz="13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5"/>
              </a:rPr>
              <a:t>ai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Real-</a:t>
            </a:r>
            <a:r>
              <a:rPr dirty="0"/>
              <a:t>world</a:t>
            </a:r>
            <a:r>
              <a:rPr dirty="0" spc="-5"/>
              <a:t> </a:t>
            </a:r>
            <a:r>
              <a:rPr dirty="0"/>
              <a:t>examples of</a:t>
            </a:r>
            <a:r>
              <a:rPr dirty="0" spc="-140"/>
              <a:t> </a:t>
            </a:r>
            <a:r>
              <a:rPr dirty="0"/>
              <a:t>AI </a:t>
            </a:r>
            <a:r>
              <a:rPr dirty="0" spc="-1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9911"/>
            <a:ext cx="8117205" cy="249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4.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Snapchat’s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“My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AI”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Incident</a:t>
            </a:r>
            <a:r>
              <a:rPr dirty="0" sz="1100" spc="-1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August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2023</a:t>
            </a:r>
            <a:endParaRPr sz="1100">
              <a:latin typeface="Arial MT"/>
              <a:cs typeface="Arial MT"/>
            </a:endParaRPr>
          </a:p>
          <a:p>
            <a:pPr marL="12700" marR="219710">
              <a:lnSpc>
                <a:spcPct val="114999"/>
              </a:lnSpc>
              <a:spcBef>
                <a:spcPts val="1200"/>
              </a:spcBef>
            </a:pPr>
            <a:r>
              <a:rPr dirty="0" sz="1100" spc="-20">
                <a:latin typeface="Arial MT"/>
                <a:cs typeface="Arial MT"/>
              </a:rPr>
              <a:t>Snapchat’s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chatbot,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powered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OpenAI’s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GPT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model,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faced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backlash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when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users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giving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concerning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responses, including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potentially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harmful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advice.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Although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designed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engage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conversations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provide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recommendations,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sometimes produced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alarming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responses,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raising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questions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about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safety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reliability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social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media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environment.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393700" indent="-3810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Read</a:t>
            </a:r>
            <a:r>
              <a:rPr dirty="0" sz="1100" spc="2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more:</a:t>
            </a:r>
            <a:r>
              <a:rPr dirty="0" sz="1100" spc="245">
                <a:latin typeface="Arial MT"/>
                <a:cs typeface="Arial MT"/>
              </a:rPr>
              <a:t>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https://techcrunch.com/2023/08/16/snapchats-my-ai-goes-rogue-posts-to-stories-but-snap-confirms-it-was-just-a-glitch/</a:t>
            </a:r>
            <a:endParaRPr sz="1100">
              <a:latin typeface="Arial MT"/>
              <a:cs typeface="Arial MT"/>
            </a:endParaRPr>
          </a:p>
          <a:p>
            <a:pPr marL="393700" marR="448309">
              <a:lnSpc>
                <a:spcPct val="114999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Users’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personal</a:t>
            </a:r>
            <a:r>
              <a:rPr dirty="0" sz="1100" spc="-20">
                <a:latin typeface="Arial MT"/>
                <a:cs typeface="Arial MT"/>
              </a:rPr>
              <a:t> Snapchat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chatbot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known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‘My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AI’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posted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own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story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stopped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responding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0">
                <a:latin typeface="Arial MT"/>
                <a:cs typeface="Arial MT"/>
              </a:rPr>
              <a:t> messages.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pic.twitter.com/GlktCcsEJr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Arial MT"/>
                <a:cs typeface="Arial MT"/>
              </a:rPr>
              <a:t>—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Pop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(@PopBase)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August</a:t>
            </a:r>
            <a:r>
              <a:rPr dirty="0" u="sng" sz="1100" spc="-3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16,</a:t>
            </a:r>
            <a:r>
              <a:rPr dirty="0" u="sng" sz="1100" spc="-3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dirty="0" u="sng" sz="11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2023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384725" y="4744310"/>
            <a:ext cx="496062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u="heavy" sz="13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6"/>
              </a:rPr>
              <a:t>https://www.prompt.security/blog/8-real-world-incidents-related-to-</a:t>
            </a:r>
            <a:r>
              <a:rPr dirty="0" u="heavy" sz="13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6"/>
              </a:rPr>
              <a:t>ai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Real-</a:t>
            </a:r>
            <a:r>
              <a:rPr dirty="0"/>
              <a:t>world</a:t>
            </a:r>
            <a:r>
              <a:rPr dirty="0" spc="-5"/>
              <a:t> </a:t>
            </a:r>
            <a:r>
              <a:rPr dirty="0"/>
              <a:t>examples of</a:t>
            </a:r>
            <a:r>
              <a:rPr dirty="0" spc="-140"/>
              <a:t> </a:t>
            </a:r>
            <a:r>
              <a:rPr dirty="0"/>
              <a:t>AI </a:t>
            </a:r>
            <a:r>
              <a:rPr dirty="0" spc="-1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9911"/>
            <a:ext cx="8070215" cy="2112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5.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Chevrolet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AI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Chatbot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Offers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Car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$1</a:t>
            </a:r>
            <a:r>
              <a:rPr dirty="0" sz="1100" spc="-25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December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2023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7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Chevrolet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dealership’s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chatbot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was</a:t>
            </a:r>
            <a:r>
              <a:rPr dirty="0" u="sng" sz="1100" spc="-1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tricked</a:t>
            </a:r>
            <a:r>
              <a:rPr dirty="0" sz="1100" spc="-15">
                <a:solidFill>
                  <a:srgbClr val="0097A7"/>
                </a:solidFill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into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offering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$76,000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Tahoe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just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$1.</a:t>
            </a:r>
            <a:r>
              <a:rPr dirty="0" sz="1100" spc="-7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7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easily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manipulated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chatbot’s </a:t>
            </a:r>
            <a:r>
              <a:rPr dirty="0" sz="1100">
                <a:latin typeface="Arial MT"/>
                <a:cs typeface="Arial MT"/>
              </a:rPr>
              <a:t>responses,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proving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customer-</a:t>
            </a:r>
            <a:r>
              <a:rPr dirty="0" sz="1100">
                <a:latin typeface="Arial MT"/>
                <a:cs typeface="Arial MT"/>
              </a:rPr>
              <a:t>facing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tools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frequently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present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websites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exploited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through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simple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prompts.</a:t>
            </a:r>
            <a:endParaRPr sz="1100">
              <a:latin typeface="Arial MT"/>
              <a:cs typeface="Arial MT"/>
            </a:endParaRPr>
          </a:p>
          <a:p>
            <a:pPr marL="393700" marR="476884" indent="-381000">
              <a:lnSpc>
                <a:spcPct val="205900"/>
              </a:lnSpc>
            </a:pPr>
            <a:r>
              <a:rPr dirty="0" sz="1100">
                <a:latin typeface="Arial MT"/>
                <a:cs typeface="Arial MT"/>
              </a:rPr>
              <a:t>Read</a:t>
            </a:r>
            <a:r>
              <a:rPr dirty="0" sz="1100" spc="1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more:</a:t>
            </a:r>
            <a:r>
              <a:rPr dirty="0" sz="1100" spc="180">
                <a:latin typeface="Arial MT"/>
                <a:cs typeface="Arial MT"/>
              </a:rPr>
              <a:t>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https://www.upworthy.com/prankster-tricks-a-gm-dealership-chatbot-to-sell-him-a-76000-chevy-tahoe-for-1-</a:t>
            </a:r>
            <a:r>
              <a:rPr dirty="0" u="sng" sz="11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rp2</a:t>
            </a:r>
            <a:r>
              <a:rPr dirty="0" sz="1100" spc="500">
                <a:solidFill>
                  <a:srgbClr val="0097A7"/>
                </a:solidFill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just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bought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2024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Chevy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Tahoe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$1.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pic.twitter.com/aq4wDitvQW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393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—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Chris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Bakke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(@ChrisJBakke)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5"/>
              </a:rPr>
              <a:t>December</a:t>
            </a:r>
            <a:r>
              <a:rPr dirty="0" u="sng" sz="11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5"/>
              </a:rPr>
              <a:t>17,</a:t>
            </a:r>
            <a:r>
              <a:rPr dirty="0" u="sng" sz="1100" spc="-1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dirty="0" u="sng" sz="11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5"/>
              </a:rPr>
              <a:t>2023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384725" y="4744310"/>
            <a:ext cx="496062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u="heavy" sz="13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https://www.prompt.security/blog/8-real-world-incidents-related-to-</a:t>
            </a:r>
            <a:r>
              <a:rPr dirty="0" u="heavy" sz="13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ai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Real-</a:t>
            </a:r>
            <a:r>
              <a:rPr dirty="0"/>
              <a:t>world</a:t>
            </a:r>
            <a:r>
              <a:rPr dirty="0" spc="-5"/>
              <a:t> </a:t>
            </a:r>
            <a:r>
              <a:rPr dirty="0"/>
              <a:t>examples of</a:t>
            </a:r>
            <a:r>
              <a:rPr dirty="0" spc="-140"/>
              <a:t> </a:t>
            </a:r>
            <a:r>
              <a:rPr dirty="0"/>
              <a:t>AI </a:t>
            </a:r>
            <a:r>
              <a:rPr dirty="0" spc="-1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9911"/>
            <a:ext cx="8368030" cy="161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6.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DPD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Chatbot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Incident</a:t>
            </a:r>
            <a:r>
              <a:rPr dirty="0" sz="1100" spc="-1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January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2024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Delivery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firm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DPD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temporarily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disabled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portion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</a:t>
            </a:r>
            <a:r>
              <a:rPr dirty="0" sz="1100" spc="-7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AI-</a:t>
            </a:r>
            <a:r>
              <a:rPr dirty="0" sz="1100">
                <a:latin typeface="Arial MT"/>
                <a:cs typeface="Arial MT"/>
              </a:rPr>
              <a:t>powered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chatbot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after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customer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tested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capabilities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asking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perform unconventional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tasks,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such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telling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jokes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criticizing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company.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incident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highlighted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potential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risks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deploying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LLMs</a:t>
            </a:r>
            <a:r>
              <a:rPr dirty="0" sz="1100" spc="500">
                <a:latin typeface="Arial MT"/>
                <a:cs typeface="Arial MT"/>
              </a:rPr>
              <a:t> 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customer-</a:t>
            </a:r>
            <a:r>
              <a:rPr dirty="0" sz="1100">
                <a:latin typeface="Arial MT"/>
                <a:cs typeface="Arial MT"/>
              </a:rPr>
              <a:t>facing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applications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where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unexpected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inputs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lead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unusual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inappropriate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responses.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Read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more: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https://www.bbc.com/news/technology-68025677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384725" y="4744310"/>
            <a:ext cx="496062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u="heavy" sz="13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https://www.prompt.security/blog/8-real-world-incidents-related-to-</a:t>
            </a:r>
            <a:r>
              <a:rPr dirty="0" u="heavy" sz="13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ai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Real-</a:t>
            </a:r>
            <a:r>
              <a:rPr dirty="0"/>
              <a:t>world</a:t>
            </a:r>
            <a:r>
              <a:rPr dirty="0" spc="-5"/>
              <a:t> </a:t>
            </a:r>
            <a:r>
              <a:rPr dirty="0"/>
              <a:t>examples of</a:t>
            </a:r>
            <a:r>
              <a:rPr dirty="0" spc="-140"/>
              <a:t> </a:t>
            </a:r>
            <a:r>
              <a:rPr dirty="0"/>
              <a:t>AI </a:t>
            </a:r>
            <a:r>
              <a:rPr dirty="0" spc="-1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9911"/>
            <a:ext cx="8284209" cy="161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7.</a:t>
            </a:r>
            <a:r>
              <a:rPr dirty="0" sz="1100" spc="-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Air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Canada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Chatbot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February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2024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An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Air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Canada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customer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reportedly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manipulated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company’s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chatbot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obtain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refund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larger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expected.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chatbot </a:t>
            </a:r>
            <a:r>
              <a:rPr dirty="0" sz="1100">
                <a:latin typeface="Arial MT"/>
                <a:cs typeface="Arial MT"/>
              </a:rPr>
              <a:t>misinterpreted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request,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leading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overpayment.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showcases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beyond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brand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reputation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damages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different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caliber,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>
                <a:latin typeface="Arial MT"/>
                <a:cs typeface="Arial MT"/>
              </a:rPr>
              <a:t>unmonitored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insecure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deployment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7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AI-</a:t>
            </a:r>
            <a:r>
              <a:rPr dirty="0" sz="1100">
                <a:latin typeface="Arial MT"/>
                <a:cs typeface="Arial MT"/>
              </a:rPr>
              <a:t>powered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chatbots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lead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financial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losses.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Read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more:</a:t>
            </a:r>
            <a:r>
              <a:rPr dirty="0" sz="1100" spc="130">
                <a:latin typeface="Arial MT"/>
                <a:cs typeface="Arial MT"/>
              </a:rPr>
              <a:t>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https://www.washingtonpost.com/travel/2024/02/18/air-canada-airline-chatbot-ruling/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/>
          <p:nvPr/>
        </p:nvSpPr>
        <p:spPr>
          <a:xfrm>
            <a:off x="384725" y="4744310"/>
            <a:ext cx="496062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u="heavy" sz="13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5"/>
              </a:rPr>
              <a:t>https://www.prompt.security/blog/8-real-world-incidents-related-to-</a:t>
            </a:r>
            <a:r>
              <a:rPr dirty="0" u="heavy" sz="13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5"/>
              </a:rPr>
              <a:t>ai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5"/>
              <a:t> </a:t>
            </a:r>
            <a:r>
              <a:rPr dirty="0"/>
              <a:t>vulnerability or</a:t>
            </a:r>
            <a:r>
              <a:rPr dirty="0" spc="-45"/>
              <a:t> </a:t>
            </a:r>
            <a:r>
              <a:rPr dirty="0" spc="-10"/>
              <a:t>Traditional?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9911"/>
            <a:ext cx="8306434" cy="200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8.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Ray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open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source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framework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March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2024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2023,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five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unique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vulnerabilities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0">
                <a:latin typeface="Arial MT"/>
                <a:cs typeface="Arial MT"/>
              </a:rPr>
              <a:t> Ray—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widely-</a:t>
            </a:r>
            <a:r>
              <a:rPr dirty="0" sz="1100">
                <a:latin typeface="Arial MT"/>
                <a:cs typeface="Arial MT"/>
              </a:rPr>
              <a:t>used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open-</a:t>
            </a:r>
            <a:r>
              <a:rPr dirty="0" sz="1100">
                <a:latin typeface="Arial MT"/>
                <a:cs typeface="Arial MT"/>
              </a:rPr>
              <a:t>source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framework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mainly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20">
                <a:latin typeface="Arial MT"/>
                <a:cs typeface="Arial MT"/>
              </a:rPr>
              <a:t> workloads—</a:t>
            </a:r>
            <a:r>
              <a:rPr dirty="0" sz="1100">
                <a:latin typeface="Arial MT"/>
                <a:cs typeface="Arial MT"/>
              </a:rPr>
              <a:t>were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disclosed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to </a:t>
            </a:r>
            <a:r>
              <a:rPr dirty="0" sz="1100" spc="-10">
                <a:latin typeface="Arial MT"/>
                <a:cs typeface="Arial MT"/>
              </a:rPr>
              <a:t>Anyscale,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developers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maintainers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Ray.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vulnerabilities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were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disclosed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(some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simultaneously)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Bishop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Fox,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Sierra</a:t>
            </a:r>
            <a:r>
              <a:rPr dirty="0" sz="1100" spc="5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Haex,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Protect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AI.</a:t>
            </a:r>
            <a:endParaRPr sz="1100">
              <a:latin typeface="Arial MT"/>
              <a:cs typeface="Arial MT"/>
            </a:endParaRPr>
          </a:p>
          <a:p>
            <a:pPr marL="12700" marR="193675">
              <a:lnSpc>
                <a:spcPct val="114999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Following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disclosure,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Anyscale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released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blog</a:t>
            </a:r>
            <a:r>
              <a:rPr dirty="0" sz="1100" spc="-20">
                <a:solidFill>
                  <a:srgbClr val="0097A7"/>
                </a:solidFill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[1]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address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vulnerabilities,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clarify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events,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detail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how</a:t>
            </a:r>
            <a:r>
              <a:rPr dirty="0" sz="1100" spc="-20">
                <a:latin typeface="Arial MT"/>
                <a:cs typeface="Arial MT"/>
              </a:rPr>
              <a:t> each </a:t>
            </a:r>
            <a:r>
              <a:rPr dirty="0" sz="1100">
                <a:latin typeface="Arial MT"/>
                <a:cs typeface="Arial MT"/>
              </a:rPr>
              <a:t>CVE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addressed.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While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four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vulnerabilities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were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fixed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version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2.8.1,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fifth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CVE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CVE-</a:t>
            </a:r>
            <a:r>
              <a:rPr dirty="0" u="sng" sz="11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2023-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48022</a:t>
            </a:r>
            <a:r>
              <a:rPr dirty="0" sz="1100" spc="-10">
                <a:latin typeface="Arial MT"/>
                <a:cs typeface="Arial MT"/>
              </a:rPr>
              <a:t>) </a:t>
            </a:r>
            <a:r>
              <a:rPr dirty="0" sz="1100">
                <a:latin typeface="Arial MT"/>
                <a:cs typeface="Arial MT"/>
              </a:rPr>
              <a:t>remains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disputed,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meaning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was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considered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risk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was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addressed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immediate</a:t>
            </a:r>
            <a:r>
              <a:rPr dirty="0" sz="1100" spc="-20">
                <a:latin typeface="Arial MT"/>
                <a:cs typeface="Arial MT"/>
              </a:rPr>
              <a:t> fix.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4725" y="3716986"/>
            <a:ext cx="64287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Read</a:t>
            </a:r>
            <a:r>
              <a:rPr dirty="0" sz="1100" spc="2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more:</a:t>
            </a:r>
            <a:r>
              <a:rPr dirty="0" sz="1100" spc="240">
                <a:latin typeface="Arial MT"/>
                <a:cs typeface="Arial MT"/>
              </a:rPr>
              <a:t> </a:t>
            </a:r>
            <a:r>
              <a:rPr dirty="0" u="sng" sz="11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https://www.oligo.security/blog/shadowray-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attack-ai-</a:t>
            </a:r>
            <a:r>
              <a:rPr dirty="0" u="sng" sz="11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workloads-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actively-exploited-in-the-</a:t>
            </a:r>
            <a:r>
              <a:rPr dirty="0" u="sng" sz="11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wild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384725" y="4744310"/>
            <a:ext cx="496062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u="heavy" sz="13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https://www.prompt.security/blog/8-real-world-incidents-related-to-</a:t>
            </a:r>
            <a:r>
              <a:rPr dirty="0" u="heavy" sz="13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ai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10"/>
              <a:t> </a:t>
            </a:r>
            <a:r>
              <a:rPr dirty="0"/>
              <a:t>Vulnerability</a:t>
            </a:r>
            <a:r>
              <a:rPr dirty="0" spc="10"/>
              <a:t> </a:t>
            </a:r>
            <a:r>
              <a:rPr dirty="0"/>
              <a:t>or</a:t>
            </a:r>
            <a:r>
              <a:rPr dirty="0" spc="-35"/>
              <a:t> </a:t>
            </a:r>
            <a:r>
              <a:rPr dirty="0" spc="-10"/>
              <a:t>Traditional?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9911"/>
            <a:ext cx="8301355" cy="1807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9.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Shelltorch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Explained: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Multiple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Vulnerabilities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Pytorch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Model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Server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(Torchserve)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(CVSS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9.9,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CVSS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9.8)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Walkthrough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July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2024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Oligo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Research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Team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disclosed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multiple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new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critical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vulnerabilities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Pytorch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maintainers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Amazon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Meta,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including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</a:pPr>
            <a:r>
              <a:rPr dirty="0" sz="1100" spc="-20" b="1">
                <a:solidFill>
                  <a:srgbClr val="188037"/>
                </a:solidFill>
                <a:latin typeface="Courier New"/>
                <a:cs typeface="Courier New"/>
              </a:rPr>
              <a:t>CVE-2023-43654</a:t>
            </a:r>
            <a:r>
              <a:rPr dirty="0" sz="1100" spc="-365" b="1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latin typeface="Arial MT"/>
                <a:cs typeface="Arial MT"/>
              </a:rPr>
              <a:t>(CVSS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9.8).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vulnerabilities,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collectively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called</a:t>
            </a:r>
            <a:r>
              <a:rPr dirty="0" sz="1100" spc="-20">
                <a:latin typeface="Arial MT"/>
                <a:cs typeface="Arial MT"/>
              </a:rPr>
              <a:t> ShellTorch, </a:t>
            </a:r>
            <a:r>
              <a:rPr dirty="0" sz="1100">
                <a:latin typeface="Arial MT"/>
                <a:cs typeface="Arial MT"/>
              </a:rPr>
              <a:t>lead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Remote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Execution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(RCE)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PyTorch </a:t>
            </a:r>
            <a:r>
              <a:rPr dirty="0" sz="1100" spc="-25">
                <a:latin typeface="Arial MT"/>
                <a:cs typeface="Arial MT"/>
              </a:rPr>
              <a:t>TorchServe—</a:t>
            </a:r>
            <a:r>
              <a:rPr dirty="0" sz="1100">
                <a:latin typeface="Arial MT"/>
                <a:cs typeface="Arial MT"/>
              </a:rPr>
              <a:t>ultimately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allowing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attackers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gain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complete,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unauthorized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access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server.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access,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attackers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could</a:t>
            </a:r>
            <a:r>
              <a:rPr dirty="0" sz="1100" spc="5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insert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malicious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models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even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execute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full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server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takeover.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Arial MT"/>
                <a:cs typeface="Arial MT"/>
              </a:rPr>
              <a:t>Read</a:t>
            </a:r>
            <a:r>
              <a:rPr dirty="0" sz="1100" spc="1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more:</a:t>
            </a:r>
            <a:r>
              <a:rPr dirty="0" sz="1100" spc="195">
                <a:latin typeface="Arial MT"/>
                <a:cs typeface="Arial MT"/>
              </a:rPr>
              <a:t>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https://www.oligo.security/blog/shelltorch-explained-multiple-vulnerabilities-in-pytorch-model-server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384725" y="4744310"/>
            <a:ext cx="496062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u="heavy" sz="1300" spc="-2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https://www.prompt.security/blog/8-real-world-incidents-related-to-</a:t>
            </a:r>
            <a:r>
              <a:rPr dirty="0" u="heavy" sz="13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ai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Real-</a:t>
            </a:r>
            <a:r>
              <a:rPr dirty="0"/>
              <a:t>world</a:t>
            </a:r>
            <a:r>
              <a:rPr dirty="0" spc="-5"/>
              <a:t> </a:t>
            </a:r>
            <a:r>
              <a:rPr dirty="0"/>
              <a:t>examples of</a:t>
            </a:r>
            <a:r>
              <a:rPr dirty="0" spc="-140"/>
              <a:t> </a:t>
            </a:r>
            <a:r>
              <a:rPr dirty="0"/>
              <a:t>AI </a:t>
            </a:r>
            <a:r>
              <a:rPr dirty="0" spc="-1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9911"/>
            <a:ext cx="8317865" cy="161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10.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Data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Exfiltration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via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Slack</a:t>
            </a:r>
            <a:r>
              <a:rPr dirty="0" sz="1100" spc="-6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AI</a:t>
            </a:r>
            <a:r>
              <a:rPr dirty="0" sz="1100" spc="-25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August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2024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The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service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Slack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provides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generative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tools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within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application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tasks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like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summarizing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conversations,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finding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answers</a:t>
            </a:r>
            <a:r>
              <a:rPr dirty="0" sz="1100" spc="5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questions,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summarizing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rarely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visited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channels.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Researchers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demonstrated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how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Slack’s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tricked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leaking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from </a:t>
            </a:r>
            <a:r>
              <a:rPr dirty="0" sz="1100">
                <a:latin typeface="Arial MT"/>
                <a:cs typeface="Arial MT"/>
              </a:rPr>
              <a:t>private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channels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via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prompt</a:t>
            </a:r>
            <a:r>
              <a:rPr dirty="0" u="sng" sz="1100" spc="-3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injection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Read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more: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https://www.theregister.com/2024/08/21/slack_ai_prompt_injection/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Real-</a:t>
            </a:r>
            <a:r>
              <a:rPr dirty="0"/>
              <a:t>world</a:t>
            </a:r>
            <a:r>
              <a:rPr dirty="0" spc="10"/>
              <a:t> </a:t>
            </a:r>
            <a:r>
              <a:rPr dirty="0"/>
              <a:t>story</a:t>
            </a:r>
            <a:r>
              <a:rPr dirty="0" spc="15"/>
              <a:t> </a:t>
            </a:r>
            <a:r>
              <a:rPr dirty="0"/>
              <a:t>behind</a:t>
            </a:r>
            <a:r>
              <a:rPr dirty="0" spc="-130"/>
              <a:t> </a:t>
            </a:r>
            <a:r>
              <a:rPr dirty="0"/>
              <a:t>AI</a:t>
            </a:r>
            <a:r>
              <a:rPr dirty="0" spc="10"/>
              <a:t> </a:t>
            </a:r>
            <a:r>
              <a:rPr dirty="0" spc="-10"/>
              <a:t>accidents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855" y="1311759"/>
            <a:ext cx="4970229" cy="234705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26500" y="4274729"/>
            <a:ext cx="68560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White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defined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researcher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published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Black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actual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exploitation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against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companies.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91056" y="1601903"/>
            <a:ext cx="2627630" cy="1953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marR="20955" indent="-313055">
              <a:lnSpc>
                <a:spcPct val="114999"/>
              </a:lnSpc>
              <a:spcBef>
                <a:spcPts val="100"/>
              </a:spcBef>
              <a:buChar char="●"/>
              <a:tabLst>
                <a:tab pos="325120" algn="l"/>
              </a:tabLst>
            </a:pPr>
            <a:r>
              <a:rPr dirty="0" sz="1100">
                <a:latin typeface="Arial MT"/>
                <a:cs typeface="Arial MT"/>
              </a:rPr>
              <a:t>Nearly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89%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incidents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are </a:t>
            </a:r>
            <a:r>
              <a:rPr dirty="0" sz="1100">
                <a:latin typeface="Arial MT"/>
                <a:cs typeface="Arial MT"/>
              </a:rPr>
              <a:t>researcher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demonstrations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ethical </a:t>
            </a:r>
            <a:r>
              <a:rPr dirty="0" sz="1100">
                <a:latin typeface="Arial MT"/>
                <a:cs typeface="Arial MT"/>
              </a:rPr>
              <a:t>hacking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exercises,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actual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attacks </a:t>
            </a: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malicious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actors.</a:t>
            </a:r>
            <a:endParaRPr sz="1100">
              <a:latin typeface="Arial MT"/>
              <a:cs typeface="Arial MT"/>
            </a:endParaRPr>
          </a:p>
          <a:p>
            <a:pPr marL="325120" marR="120650" indent="-313055">
              <a:lnSpc>
                <a:spcPct val="114999"/>
              </a:lnSpc>
              <a:buChar char="●"/>
              <a:tabLst>
                <a:tab pos="325120" algn="l"/>
              </a:tabLst>
            </a:pPr>
            <a:r>
              <a:rPr dirty="0" sz="1100">
                <a:latin typeface="Arial MT"/>
                <a:cs typeface="Arial MT"/>
              </a:rPr>
              <a:t>Only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17.7%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are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genuine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AI-specific attacks.</a:t>
            </a:r>
            <a:endParaRPr sz="1100">
              <a:latin typeface="Arial MT"/>
              <a:cs typeface="Arial MT"/>
            </a:endParaRPr>
          </a:p>
          <a:p>
            <a:pPr marL="325120" marR="5080" indent="-313055">
              <a:lnSpc>
                <a:spcPct val="114999"/>
              </a:lnSpc>
              <a:buChar char="●"/>
              <a:tabLst>
                <a:tab pos="325120" algn="l"/>
              </a:tabLst>
            </a:pP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7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substantial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82.3%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incidents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are </a:t>
            </a:r>
            <a:r>
              <a:rPr dirty="0" sz="1100" spc="-10">
                <a:latin typeface="Arial MT"/>
                <a:cs typeface="Arial MT"/>
              </a:rPr>
              <a:t>traditional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vulnerabilities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found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AI </a:t>
            </a:r>
            <a:r>
              <a:rPr dirty="0" sz="1100">
                <a:latin typeface="Arial MT"/>
                <a:cs typeface="Arial MT"/>
              </a:rPr>
              <a:t>software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incorrectly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labeled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as </a:t>
            </a:r>
            <a:r>
              <a:rPr dirty="0" sz="1100">
                <a:latin typeface="Arial MT"/>
                <a:cs typeface="Arial MT"/>
              </a:rPr>
              <a:t>“AI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vulnerabilities.”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557712" y="2542012"/>
            <a:ext cx="1797685" cy="859790"/>
            <a:chOff x="4557712" y="2542012"/>
            <a:chExt cx="1797685" cy="859790"/>
          </a:xfrm>
        </p:grpSpPr>
        <p:sp>
          <p:nvSpPr>
            <p:cNvPr id="7" name="object 7" descr=""/>
            <p:cNvSpPr/>
            <p:nvPr/>
          </p:nvSpPr>
          <p:spPr>
            <a:xfrm>
              <a:off x="4572000" y="3129374"/>
              <a:ext cx="832485" cy="258445"/>
            </a:xfrm>
            <a:custGeom>
              <a:avLst/>
              <a:gdLst/>
              <a:ahLst/>
              <a:cxnLst/>
              <a:rect l="l" t="t" r="r" b="b"/>
              <a:pathLst>
                <a:path w="832485" h="258445">
                  <a:moveTo>
                    <a:pt x="0" y="0"/>
                  </a:moveTo>
                  <a:lnTo>
                    <a:pt x="832199" y="0"/>
                  </a:lnTo>
                  <a:lnTo>
                    <a:pt x="832199" y="257999"/>
                  </a:lnTo>
                  <a:lnTo>
                    <a:pt x="0" y="2579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1880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449874" y="2546774"/>
              <a:ext cx="901065" cy="677545"/>
            </a:xfrm>
            <a:custGeom>
              <a:avLst/>
              <a:gdLst/>
              <a:ahLst/>
              <a:cxnLst/>
              <a:rect l="l" t="t" r="r" b="b"/>
              <a:pathLst>
                <a:path w="901064" h="677544">
                  <a:moveTo>
                    <a:pt x="900525" y="0"/>
                  </a:moveTo>
                  <a:lnTo>
                    <a:pt x="0" y="677249"/>
                  </a:lnTo>
                </a:path>
              </a:pathLst>
            </a:custGeom>
            <a:ln w="9524">
              <a:solidFill>
                <a:srgbClr val="1880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415328" y="3211450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0" y="38554"/>
                  </a:moveTo>
                  <a:lnTo>
                    <a:pt x="25089" y="0"/>
                  </a:lnTo>
                  <a:lnTo>
                    <a:pt x="44002" y="25147"/>
                  </a:lnTo>
                  <a:lnTo>
                    <a:pt x="0" y="38554"/>
                  </a:lnTo>
                  <a:close/>
                </a:path>
              </a:pathLst>
            </a:custGeom>
            <a:solidFill>
              <a:srgbClr val="1880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415328" y="3211450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25089" y="0"/>
                  </a:moveTo>
                  <a:lnTo>
                    <a:pt x="0" y="38554"/>
                  </a:lnTo>
                  <a:lnTo>
                    <a:pt x="44002" y="25147"/>
                  </a:lnTo>
                  <a:lnTo>
                    <a:pt x="25089" y="0"/>
                  </a:lnTo>
                  <a:close/>
                </a:path>
              </a:pathLst>
            </a:custGeom>
            <a:ln w="9524">
              <a:solidFill>
                <a:srgbClr val="1880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84725" y="4743615"/>
            <a:ext cx="6877050" cy="36385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115"/>
              </a:spcBef>
            </a:pPr>
            <a:r>
              <a:rPr dirty="0" sz="1200">
                <a:latin typeface="Arial MT"/>
                <a:cs typeface="Arial MT"/>
              </a:rPr>
              <a:t>Source: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Caleb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Sima: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https://www.linkedin.com/pulse/real-story-behind-ai-security-incidents-caleb-sima-ge4yc</a:t>
            </a:r>
            <a:r>
              <a:rPr dirty="0" sz="1100" spc="-10">
                <a:solidFill>
                  <a:srgbClr val="0097A7"/>
                </a:solidFill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Analysis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243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documented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security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incidents/issues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between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2015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(Oct?)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Real-</a:t>
            </a:r>
            <a:r>
              <a:rPr dirty="0"/>
              <a:t>world</a:t>
            </a:r>
            <a:r>
              <a:rPr dirty="0" spc="10"/>
              <a:t> </a:t>
            </a:r>
            <a:r>
              <a:rPr dirty="0"/>
              <a:t>story</a:t>
            </a:r>
            <a:r>
              <a:rPr dirty="0" spc="15"/>
              <a:t> </a:t>
            </a:r>
            <a:r>
              <a:rPr dirty="0"/>
              <a:t>behind</a:t>
            </a:r>
            <a:r>
              <a:rPr dirty="0" spc="-130"/>
              <a:t> </a:t>
            </a:r>
            <a:r>
              <a:rPr dirty="0"/>
              <a:t>AI</a:t>
            </a:r>
            <a:r>
              <a:rPr dirty="0" spc="10"/>
              <a:t> </a:t>
            </a:r>
            <a:r>
              <a:rPr dirty="0" spc="-10"/>
              <a:t>accidents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979" y="1212268"/>
            <a:ext cx="6537392" cy="249137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26500" y="4274729"/>
            <a:ext cx="68560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White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defined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researcher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published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Black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actual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exploitation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against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companies.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4725" y="4743615"/>
            <a:ext cx="6877050" cy="36385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115"/>
              </a:spcBef>
            </a:pPr>
            <a:r>
              <a:rPr dirty="0" sz="1200">
                <a:latin typeface="Arial MT"/>
                <a:cs typeface="Arial MT"/>
              </a:rPr>
              <a:t>Source: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Caleb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Sima: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https://www.linkedin.com/pulse/real-story-behind-ai-security-incidents-caleb-sima-ge4yc</a:t>
            </a:r>
            <a:r>
              <a:rPr dirty="0" sz="1100" spc="-10">
                <a:solidFill>
                  <a:srgbClr val="0097A7"/>
                </a:solidFill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Analysis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243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documented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security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incidents/issues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between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2015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(Oct?)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5"/>
              <a:t> </a:t>
            </a:r>
            <a:r>
              <a:rPr dirty="0"/>
              <a:t>Ecosystem -</a:t>
            </a:r>
            <a:r>
              <a:rPr dirty="0" spc="-50"/>
              <a:t> </a:t>
            </a:r>
            <a:r>
              <a:rPr dirty="0"/>
              <a:t>Traditional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140"/>
              <a:t> </a:t>
            </a:r>
            <a:r>
              <a:rPr dirty="0"/>
              <a:t>AI</a:t>
            </a:r>
            <a:r>
              <a:rPr dirty="0" spc="-5"/>
              <a:t> </a:t>
            </a:r>
            <a:r>
              <a:rPr dirty="0" spc="-10"/>
              <a:t>specific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9950" y="970375"/>
            <a:ext cx="3852450" cy="35072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20324" y="4740595"/>
            <a:ext cx="4685665" cy="181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</a:rPr>
              <a:t>https://www.linkedin.com/feed/update/urn:li:activity:7317593856730955777/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45"/>
              <a:t> </a:t>
            </a:r>
            <a:r>
              <a:rPr dirty="0"/>
              <a:t>Attack </a:t>
            </a:r>
            <a:r>
              <a:rPr dirty="0" spc="-10"/>
              <a:t>Vectors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2676" y="1175208"/>
            <a:ext cx="3199765" cy="191833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Prompt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Injection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(for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LLMs)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poisoning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Inversion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Evasion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Stealing/Extraction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Membership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Inference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65"/>
              <a:t> </a:t>
            </a:r>
            <a:r>
              <a:rPr dirty="0"/>
              <a:t>Attack</a:t>
            </a:r>
            <a:r>
              <a:rPr dirty="0" spc="-30"/>
              <a:t> </a:t>
            </a:r>
            <a:r>
              <a:rPr dirty="0"/>
              <a:t>Vectors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Prompt</a:t>
            </a:r>
            <a:r>
              <a:rPr dirty="0" spc="-30"/>
              <a:t> </a:t>
            </a:r>
            <a:r>
              <a:rPr dirty="0" spc="-10"/>
              <a:t>Injection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8305800" cy="191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Prompt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Injection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cybersecurity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threat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where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attackers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manipulate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large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language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(LLM)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through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carefully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crafted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inputs.</a:t>
            </a:r>
            <a:r>
              <a:rPr dirty="0" sz="1800" spc="-6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manipulation,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often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referred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"jailbreaking"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tricks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LLM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into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executing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attacker's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intentions.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threat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becomes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particularly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concerning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when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LLM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integrated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other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tools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such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internal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databases,</a:t>
            </a:r>
            <a:r>
              <a:rPr dirty="0" sz="1800" spc="-1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APIs,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code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interpreters,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creating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new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attack surface.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9374" y="4234588"/>
            <a:ext cx="46386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 MT"/>
                <a:cs typeface="Arial MT"/>
                <a:hlinkClick r:id="rId2"/>
              </a:rPr>
              <a:t>https://www.prompt.security/vulnerabilities/prompt-injection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44950" y="4651630"/>
            <a:ext cx="425386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u="heavy" sz="14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https://www.prompt.security/blog/prompt-injection-</a:t>
            </a:r>
            <a:r>
              <a:rPr dirty="0" u="heavy" sz="14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101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65"/>
              <a:t> </a:t>
            </a:r>
            <a:r>
              <a:rPr dirty="0"/>
              <a:t>Attack</a:t>
            </a:r>
            <a:r>
              <a:rPr dirty="0" spc="-25"/>
              <a:t> </a:t>
            </a:r>
            <a:r>
              <a:rPr dirty="0"/>
              <a:t>Vectors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Prompt</a:t>
            </a:r>
            <a:r>
              <a:rPr dirty="0" spc="-30"/>
              <a:t> </a:t>
            </a:r>
            <a:r>
              <a:rPr dirty="0"/>
              <a:t>Injection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70"/>
              <a:t> </a:t>
            </a:r>
            <a:r>
              <a:rPr dirty="0" spc="-10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2676" y="1175208"/>
            <a:ext cx="1193165" cy="9721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Direct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Indirect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Visual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65"/>
              <a:t> </a:t>
            </a:r>
            <a:r>
              <a:rPr dirty="0"/>
              <a:t>Attack</a:t>
            </a:r>
            <a:r>
              <a:rPr dirty="0" spc="-25"/>
              <a:t> </a:t>
            </a:r>
            <a:r>
              <a:rPr dirty="0"/>
              <a:t>Vectors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Prompt</a:t>
            </a:r>
            <a:r>
              <a:rPr dirty="0" spc="-30"/>
              <a:t> </a:t>
            </a:r>
            <a:r>
              <a:rPr dirty="0"/>
              <a:t>Injection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 spc="-10"/>
              <a:t>Direct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7785100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user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formulates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prompt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intention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influencing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language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(LLM)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deviate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its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intended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behavior.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8575" y="1955643"/>
            <a:ext cx="3375648" cy="260271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44950" y="4651630"/>
            <a:ext cx="425386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u="heavy" sz="14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https://www.prompt.security/blog/prompt-injection-</a:t>
            </a:r>
            <a:r>
              <a:rPr dirty="0" u="heavy" sz="14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101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25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44950" y="4651630"/>
            <a:ext cx="425386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u="heavy" sz="14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https://www.prompt.security/blog/prompt-injection-</a:t>
            </a:r>
            <a:r>
              <a:rPr dirty="0" u="heavy" sz="14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101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65"/>
              <a:t> </a:t>
            </a:r>
            <a:r>
              <a:rPr dirty="0"/>
              <a:t>Attack</a:t>
            </a:r>
            <a:r>
              <a:rPr dirty="0" spc="-25"/>
              <a:t> </a:t>
            </a:r>
            <a:r>
              <a:rPr dirty="0"/>
              <a:t>Vectors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Prompt</a:t>
            </a:r>
            <a:r>
              <a:rPr dirty="0" spc="-30"/>
              <a:t> </a:t>
            </a:r>
            <a:r>
              <a:rPr dirty="0"/>
              <a:t>Injection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 spc="-10"/>
              <a:t>Indirect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8340090" cy="160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Adversarial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instructions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introduced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through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third-party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source,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such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dirty="0" sz="1800" spc="5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web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search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dirty="0" sz="1800" spc="-1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API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call.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instance,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conversation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Bing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chat,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which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has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internet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search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capabilities,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instruct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explore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random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website.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this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website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contains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malicious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prompts,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cleverly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concealed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white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text,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Bing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chat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might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unwittingly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read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comply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these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instructions.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65"/>
              <a:t> </a:t>
            </a:r>
            <a:r>
              <a:rPr dirty="0"/>
              <a:t>Attack</a:t>
            </a:r>
            <a:r>
              <a:rPr dirty="0" spc="-25"/>
              <a:t> </a:t>
            </a:r>
            <a:r>
              <a:rPr dirty="0"/>
              <a:t>Vectors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Prompt</a:t>
            </a:r>
            <a:r>
              <a:rPr dirty="0" spc="-30"/>
              <a:t> </a:t>
            </a:r>
            <a:r>
              <a:rPr dirty="0"/>
              <a:t>Injection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 spc="-10"/>
              <a:t>Visual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06892"/>
            <a:ext cx="4525645" cy="317246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 marR="29845">
              <a:lnSpc>
                <a:spcPts val="1900"/>
              </a:lnSpc>
              <a:spcBef>
                <a:spcPts val="244"/>
              </a:spcBef>
            </a:pP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dirty="0" sz="1650" spc="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GenAI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apps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evolve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into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multi-modal</a:t>
            </a:r>
            <a:r>
              <a:rPr dirty="0" sz="1650" spc="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systems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capable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processing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diverse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inputs,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such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595959"/>
                </a:solidFill>
                <a:latin typeface="Arial MT"/>
                <a:cs typeface="Arial MT"/>
              </a:rPr>
              <a:t>as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images,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potential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injection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arises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595959"/>
                </a:solidFill>
                <a:latin typeface="Arial MT"/>
                <a:cs typeface="Arial MT"/>
              </a:rPr>
              <a:t>from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various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origins.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such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scenarios,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textual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prompt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might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entirely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benign,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while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image</a:t>
            </a:r>
            <a:r>
              <a:rPr dirty="0" sz="1650" spc="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itself</a:t>
            </a:r>
            <a:r>
              <a:rPr dirty="0" sz="165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could</a:t>
            </a:r>
            <a:r>
              <a:rPr dirty="0" sz="165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harbor</a:t>
            </a:r>
            <a:r>
              <a:rPr dirty="0" sz="165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malicious</a:t>
            </a:r>
            <a:r>
              <a:rPr dirty="0" sz="1650" spc="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instructions.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These</a:t>
            </a:r>
            <a:r>
              <a:rPr dirty="0" sz="165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instructions</a:t>
            </a:r>
            <a:r>
              <a:rPr dirty="0" sz="165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might</a:t>
            </a:r>
            <a:r>
              <a:rPr dirty="0" sz="165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dirty="0" sz="165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cleverly</a:t>
            </a:r>
            <a:r>
              <a:rPr dirty="0" sz="165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formatted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colored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remain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imperceptible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users.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ts val="1795"/>
              </a:lnSpc>
            </a:pP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65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following</a:t>
            </a:r>
            <a:r>
              <a:rPr dirty="0" sz="165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example</a:t>
            </a:r>
            <a:r>
              <a:rPr dirty="0" sz="165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illustrates</a:t>
            </a:r>
            <a:r>
              <a:rPr dirty="0" sz="165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dirty="0" sz="165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35">
                <a:solidFill>
                  <a:srgbClr val="595959"/>
                </a:solidFill>
                <a:latin typeface="Arial MT"/>
                <a:cs typeface="Arial MT"/>
              </a:rPr>
              <a:t>GPT-</a:t>
            </a:r>
            <a:r>
              <a:rPr dirty="0" sz="1650" spc="-50">
                <a:solidFill>
                  <a:srgbClr val="595959"/>
                </a:solidFill>
                <a:latin typeface="Arial MT"/>
                <a:cs typeface="Arial MT"/>
              </a:rPr>
              <a:t>4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ts val="1900"/>
              </a:lnSpc>
              <a:spcBef>
                <a:spcPts val="90"/>
              </a:spcBef>
            </a:pP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was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deceived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into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providing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wholly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different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response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due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concealed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manipulative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instructions</a:t>
            </a:r>
            <a:r>
              <a:rPr dirty="0" sz="165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embedded</a:t>
            </a:r>
            <a:r>
              <a:rPr dirty="0" sz="165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within</a:t>
            </a:r>
            <a:r>
              <a:rPr dirty="0" sz="165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650" spc="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accompanying image.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5525" y="1332474"/>
            <a:ext cx="3203749" cy="305639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44950" y="4651630"/>
            <a:ext cx="425386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u="heavy" sz="14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https://www.prompt.security/blog/prompt-injection-</a:t>
            </a:r>
            <a:r>
              <a:rPr dirty="0" u="heavy" sz="14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101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25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368750" y="4651630"/>
            <a:ext cx="651764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u="heavy" sz="14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https://www.crowdstrike.com/en-us/cybersecurity-101/cyberattacks/data-poisoning/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65"/>
              <a:t> </a:t>
            </a:r>
            <a:r>
              <a:rPr dirty="0"/>
              <a:t>Attack</a:t>
            </a:r>
            <a:r>
              <a:rPr dirty="0" spc="-30"/>
              <a:t> </a:t>
            </a:r>
            <a:r>
              <a:rPr dirty="0"/>
              <a:t>Vectors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Data</a:t>
            </a:r>
            <a:r>
              <a:rPr dirty="0" spc="-25"/>
              <a:t> </a:t>
            </a:r>
            <a:r>
              <a:rPr dirty="0" spc="-10"/>
              <a:t>poisoning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dirty="0" spc="25"/>
              <a:t> </a:t>
            </a:r>
            <a:r>
              <a:rPr dirty="0"/>
              <a:t>poisoning</a:t>
            </a:r>
            <a:r>
              <a:rPr dirty="0" spc="20"/>
              <a:t> </a:t>
            </a:r>
            <a:r>
              <a:rPr dirty="0"/>
              <a:t>is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/>
              <a:t>type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cyber</a:t>
            </a:r>
            <a:r>
              <a:rPr dirty="0" spc="25"/>
              <a:t> </a:t>
            </a:r>
            <a:r>
              <a:rPr dirty="0"/>
              <a:t>attack</a:t>
            </a:r>
            <a:r>
              <a:rPr dirty="0" spc="25"/>
              <a:t> </a:t>
            </a:r>
            <a:r>
              <a:rPr dirty="0"/>
              <a:t>in</a:t>
            </a:r>
            <a:r>
              <a:rPr dirty="0" spc="25"/>
              <a:t> </a:t>
            </a:r>
            <a:r>
              <a:rPr dirty="0"/>
              <a:t>which</a:t>
            </a:r>
            <a:r>
              <a:rPr dirty="0" spc="25"/>
              <a:t> </a:t>
            </a:r>
            <a:r>
              <a:rPr dirty="0"/>
              <a:t>an</a:t>
            </a:r>
            <a:r>
              <a:rPr dirty="0" spc="25"/>
              <a:t> </a:t>
            </a:r>
            <a:r>
              <a:rPr dirty="0"/>
              <a:t>adversary</a:t>
            </a:r>
            <a:r>
              <a:rPr dirty="0" spc="25"/>
              <a:t> </a:t>
            </a:r>
            <a:r>
              <a:rPr dirty="0"/>
              <a:t>intentionally</a:t>
            </a:r>
            <a:r>
              <a:rPr dirty="0" spc="25"/>
              <a:t> </a:t>
            </a:r>
            <a:r>
              <a:rPr dirty="0" spc="-10"/>
              <a:t>compromises </a:t>
            </a:r>
            <a:r>
              <a:rPr dirty="0"/>
              <a:t>a</a:t>
            </a:r>
            <a:r>
              <a:rPr dirty="0" spc="15"/>
              <a:t> </a:t>
            </a:r>
            <a:r>
              <a:rPr dirty="0"/>
              <a:t>training</a:t>
            </a:r>
            <a:r>
              <a:rPr dirty="0" spc="20"/>
              <a:t> </a:t>
            </a:r>
            <a:r>
              <a:rPr dirty="0"/>
              <a:t>dataset</a:t>
            </a:r>
            <a:r>
              <a:rPr dirty="0" spc="15"/>
              <a:t> </a:t>
            </a:r>
            <a:r>
              <a:rPr dirty="0"/>
              <a:t>used</a:t>
            </a:r>
            <a:r>
              <a:rPr dirty="0" spc="20"/>
              <a:t> </a:t>
            </a:r>
            <a:r>
              <a:rPr dirty="0"/>
              <a:t>by</a:t>
            </a:r>
            <a:r>
              <a:rPr dirty="0" spc="15"/>
              <a:t> </a:t>
            </a:r>
            <a:r>
              <a:rPr dirty="0"/>
              <a:t>an</a:t>
            </a:r>
            <a:r>
              <a:rPr dirty="0" spc="-75"/>
              <a:t> </a:t>
            </a:r>
            <a:r>
              <a:rPr dirty="0"/>
              <a:t>AI</a:t>
            </a:r>
            <a:r>
              <a:rPr dirty="0" spc="20"/>
              <a:t> </a:t>
            </a:r>
            <a:r>
              <a:rPr dirty="0"/>
              <a:t>or</a:t>
            </a:r>
            <a:r>
              <a:rPr dirty="0" spc="20"/>
              <a:t> </a:t>
            </a:r>
            <a:r>
              <a:rPr dirty="0"/>
              <a:t>machine</a:t>
            </a:r>
            <a:r>
              <a:rPr dirty="0" spc="15"/>
              <a:t> </a:t>
            </a:r>
            <a:r>
              <a:rPr dirty="0"/>
              <a:t>learning</a:t>
            </a:r>
            <a:r>
              <a:rPr dirty="0" spc="20"/>
              <a:t> </a:t>
            </a:r>
            <a:r>
              <a:rPr dirty="0"/>
              <a:t>(ML)</a:t>
            </a:r>
            <a:r>
              <a:rPr dirty="0" spc="15"/>
              <a:t> </a:t>
            </a:r>
            <a:r>
              <a:rPr dirty="0"/>
              <a:t>model</a:t>
            </a:r>
            <a:r>
              <a:rPr dirty="0" spc="20"/>
              <a:t> </a:t>
            </a:r>
            <a:r>
              <a:rPr dirty="0"/>
              <a:t>to</a:t>
            </a:r>
            <a:r>
              <a:rPr dirty="0" spc="15"/>
              <a:t> </a:t>
            </a:r>
            <a:r>
              <a:rPr dirty="0"/>
              <a:t>influence</a:t>
            </a:r>
            <a:r>
              <a:rPr dirty="0" spc="20"/>
              <a:t> </a:t>
            </a:r>
            <a:r>
              <a:rPr dirty="0" spc="-25"/>
              <a:t>or </a:t>
            </a:r>
            <a:r>
              <a:rPr dirty="0"/>
              <a:t>manipulate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/>
              <a:t>operation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5"/>
              <a:t> </a:t>
            </a:r>
            <a:r>
              <a:rPr dirty="0"/>
              <a:t>that</a:t>
            </a:r>
            <a:r>
              <a:rPr dirty="0" spc="10"/>
              <a:t> </a:t>
            </a:r>
            <a:r>
              <a:rPr dirty="0" spc="-10"/>
              <a:t>model.</a:t>
            </a: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/>
              <a:t>Data</a:t>
            </a:r>
            <a:r>
              <a:rPr dirty="0" spc="15"/>
              <a:t> </a:t>
            </a:r>
            <a:r>
              <a:rPr dirty="0"/>
              <a:t>poisoning</a:t>
            </a:r>
            <a:r>
              <a:rPr dirty="0" spc="20"/>
              <a:t> </a:t>
            </a:r>
            <a:r>
              <a:rPr dirty="0"/>
              <a:t>can</a:t>
            </a:r>
            <a:r>
              <a:rPr dirty="0" spc="20"/>
              <a:t> </a:t>
            </a:r>
            <a:r>
              <a:rPr dirty="0"/>
              <a:t>be</a:t>
            </a:r>
            <a:r>
              <a:rPr dirty="0" spc="20"/>
              <a:t> </a:t>
            </a:r>
            <a:r>
              <a:rPr dirty="0"/>
              <a:t>done</a:t>
            </a:r>
            <a:r>
              <a:rPr dirty="0" spc="15"/>
              <a:t> </a:t>
            </a:r>
            <a:r>
              <a:rPr dirty="0"/>
              <a:t>in</a:t>
            </a:r>
            <a:r>
              <a:rPr dirty="0" spc="20"/>
              <a:t> </a:t>
            </a:r>
            <a:r>
              <a:rPr dirty="0"/>
              <a:t>several</a:t>
            </a:r>
            <a:r>
              <a:rPr dirty="0" spc="20"/>
              <a:t> </a:t>
            </a:r>
            <a:r>
              <a:rPr dirty="0" spc="-10"/>
              <a:t>ways:</a:t>
            </a:r>
          </a:p>
          <a:p>
            <a:pPr marL="469265" indent="-356235">
              <a:lnSpc>
                <a:spcPct val="100000"/>
              </a:lnSpc>
              <a:spcBef>
                <a:spcPts val="1320"/>
              </a:spcBef>
              <a:buChar char="●"/>
              <a:tabLst>
                <a:tab pos="469265" algn="l"/>
              </a:tabLst>
            </a:pPr>
            <a:r>
              <a:rPr dirty="0"/>
              <a:t>Intentionally</a:t>
            </a:r>
            <a:r>
              <a:rPr dirty="0" spc="25"/>
              <a:t> </a:t>
            </a:r>
            <a:r>
              <a:rPr dirty="0"/>
              <a:t>injecting</a:t>
            </a:r>
            <a:r>
              <a:rPr dirty="0" spc="30"/>
              <a:t> </a:t>
            </a:r>
            <a:r>
              <a:rPr dirty="0"/>
              <a:t>false</a:t>
            </a:r>
            <a:r>
              <a:rPr dirty="0" spc="25"/>
              <a:t> </a:t>
            </a:r>
            <a:r>
              <a:rPr dirty="0"/>
              <a:t>or</a:t>
            </a:r>
            <a:r>
              <a:rPr dirty="0" spc="30"/>
              <a:t> </a:t>
            </a:r>
            <a:r>
              <a:rPr dirty="0"/>
              <a:t>misleading</a:t>
            </a:r>
            <a:r>
              <a:rPr dirty="0" spc="25"/>
              <a:t> </a:t>
            </a:r>
            <a:r>
              <a:rPr dirty="0"/>
              <a:t>information</a:t>
            </a:r>
            <a:r>
              <a:rPr dirty="0" spc="30"/>
              <a:t> </a:t>
            </a:r>
            <a:r>
              <a:rPr dirty="0"/>
              <a:t>within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/>
              <a:t>training</a:t>
            </a:r>
            <a:r>
              <a:rPr dirty="0" spc="30"/>
              <a:t> </a:t>
            </a:r>
            <a:r>
              <a:rPr dirty="0" spc="-10"/>
              <a:t>dataset</a:t>
            </a:r>
          </a:p>
          <a:p>
            <a:pPr marL="469265" indent="-356235">
              <a:lnSpc>
                <a:spcPct val="100000"/>
              </a:lnSpc>
              <a:spcBef>
                <a:spcPts val="120"/>
              </a:spcBef>
              <a:buChar char="●"/>
              <a:tabLst>
                <a:tab pos="469265" algn="l"/>
              </a:tabLst>
            </a:pPr>
            <a:r>
              <a:rPr dirty="0"/>
              <a:t>Modifying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existing</a:t>
            </a:r>
            <a:r>
              <a:rPr dirty="0" spc="20"/>
              <a:t> </a:t>
            </a:r>
            <a:r>
              <a:rPr dirty="0" spc="-10"/>
              <a:t>dataset</a:t>
            </a:r>
          </a:p>
          <a:p>
            <a:pPr marL="469265" indent="-356235">
              <a:lnSpc>
                <a:spcPct val="100000"/>
              </a:lnSpc>
              <a:spcBef>
                <a:spcPts val="114"/>
              </a:spcBef>
              <a:buChar char="●"/>
              <a:tabLst>
                <a:tab pos="469265" algn="l"/>
              </a:tabLst>
            </a:pPr>
            <a:r>
              <a:rPr dirty="0"/>
              <a:t>Deleting</a:t>
            </a:r>
            <a:r>
              <a:rPr dirty="0" spc="10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/>
              <a:t>portion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10"/>
              <a:t>dataset</a:t>
            </a:r>
          </a:p>
          <a:p>
            <a:pPr marL="12700" marR="44450">
              <a:lnSpc>
                <a:spcPct val="106000"/>
              </a:lnSpc>
              <a:spcBef>
                <a:spcPts val="1200"/>
              </a:spcBef>
            </a:pPr>
            <a:r>
              <a:rPr dirty="0"/>
              <a:t>By</a:t>
            </a:r>
            <a:r>
              <a:rPr dirty="0" spc="20"/>
              <a:t> </a:t>
            </a:r>
            <a:r>
              <a:rPr dirty="0"/>
              <a:t>manipulating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dataset</a:t>
            </a:r>
            <a:r>
              <a:rPr dirty="0" spc="25"/>
              <a:t> </a:t>
            </a:r>
            <a:r>
              <a:rPr dirty="0"/>
              <a:t>during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training</a:t>
            </a:r>
            <a:r>
              <a:rPr dirty="0" spc="25"/>
              <a:t> </a:t>
            </a:r>
            <a:r>
              <a:rPr dirty="0"/>
              <a:t>phase,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/>
              <a:t>adversary</a:t>
            </a:r>
            <a:r>
              <a:rPr dirty="0" spc="25"/>
              <a:t> </a:t>
            </a:r>
            <a:r>
              <a:rPr dirty="0"/>
              <a:t>can</a:t>
            </a:r>
            <a:r>
              <a:rPr dirty="0" spc="20"/>
              <a:t> </a:t>
            </a:r>
            <a:r>
              <a:rPr dirty="0" spc="-10"/>
              <a:t>introduce </a:t>
            </a:r>
            <a:r>
              <a:rPr dirty="0"/>
              <a:t>biases,</a:t>
            </a:r>
            <a:r>
              <a:rPr dirty="0" spc="30"/>
              <a:t> </a:t>
            </a:r>
            <a:r>
              <a:rPr dirty="0"/>
              <a:t>create</a:t>
            </a:r>
            <a:r>
              <a:rPr dirty="0" spc="35"/>
              <a:t> </a:t>
            </a:r>
            <a:r>
              <a:rPr dirty="0"/>
              <a:t>erroneous</a:t>
            </a:r>
            <a:r>
              <a:rPr dirty="0" spc="30"/>
              <a:t> </a:t>
            </a:r>
            <a:r>
              <a:rPr dirty="0"/>
              <a:t>outputs,</a:t>
            </a:r>
            <a:r>
              <a:rPr dirty="0" spc="35"/>
              <a:t> </a:t>
            </a:r>
            <a:r>
              <a:rPr dirty="0"/>
              <a:t>introduce</a:t>
            </a:r>
            <a:r>
              <a:rPr dirty="0" spc="30"/>
              <a:t> </a:t>
            </a:r>
            <a:r>
              <a:rPr dirty="0"/>
              <a:t>vulnerabilities</a:t>
            </a:r>
            <a:r>
              <a:rPr dirty="0" spc="35"/>
              <a:t> </a:t>
            </a:r>
            <a:r>
              <a:rPr dirty="0"/>
              <a:t>(i.e.,</a:t>
            </a:r>
            <a:r>
              <a:rPr dirty="0" spc="30"/>
              <a:t> </a:t>
            </a:r>
            <a:r>
              <a:rPr dirty="0"/>
              <a:t>backdoors),</a:t>
            </a:r>
            <a:r>
              <a:rPr dirty="0" spc="35"/>
              <a:t> </a:t>
            </a:r>
            <a:r>
              <a:rPr dirty="0"/>
              <a:t>or</a:t>
            </a:r>
            <a:r>
              <a:rPr dirty="0" spc="30"/>
              <a:t> </a:t>
            </a:r>
            <a:r>
              <a:rPr dirty="0" spc="-10"/>
              <a:t>otherwise </a:t>
            </a:r>
            <a:r>
              <a:rPr dirty="0"/>
              <a:t>influence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/>
              <a:t>decision-making</a:t>
            </a:r>
            <a:r>
              <a:rPr dirty="0" spc="30"/>
              <a:t> </a:t>
            </a:r>
            <a:r>
              <a:rPr dirty="0"/>
              <a:t>or</a:t>
            </a:r>
            <a:r>
              <a:rPr dirty="0" spc="25"/>
              <a:t> </a:t>
            </a:r>
            <a:r>
              <a:rPr dirty="0"/>
              <a:t>predictive</a:t>
            </a:r>
            <a:r>
              <a:rPr dirty="0" spc="30"/>
              <a:t> </a:t>
            </a:r>
            <a:r>
              <a:rPr dirty="0"/>
              <a:t>capabilities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10"/>
              <a:t>model.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368750" y="4651630"/>
            <a:ext cx="6950709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u="heavy" sz="14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https://www.linkedin.com/pulse/real-story-behind-ai-security-incidents-caleb-sima-ge4yc/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65"/>
              <a:t> </a:t>
            </a:r>
            <a:r>
              <a:rPr dirty="0"/>
              <a:t>Attack</a:t>
            </a:r>
            <a:r>
              <a:rPr dirty="0" spc="-30"/>
              <a:t> </a:t>
            </a:r>
            <a:r>
              <a:rPr dirty="0"/>
              <a:t>Vectors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Data</a:t>
            </a:r>
            <a:r>
              <a:rPr dirty="0" spc="-25"/>
              <a:t> </a:t>
            </a:r>
            <a:r>
              <a:rPr dirty="0" spc="-10"/>
              <a:t>poisoning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8201659" cy="191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Example: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ByteDance</a:t>
            </a:r>
            <a:r>
              <a:rPr dirty="0" sz="1800" spc="-11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intern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maliciously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interfered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tasks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(October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2024)</a:t>
            </a:r>
            <a:endParaRPr sz="1800">
              <a:latin typeface="Arial MT"/>
              <a:cs typeface="Arial MT"/>
            </a:endParaRPr>
          </a:p>
          <a:p>
            <a:pPr marL="379095" marR="43751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Example: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Protiviti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client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experienced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attacker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attempting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manipulate</a:t>
            </a:r>
            <a:r>
              <a:rPr dirty="0" sz="1800" spc="-11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AI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system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(June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2024)</a:t>
            </a:r>
            <a:endParaRPr sz="1800">
              <a:latin typeface="Arial MT"/>
              <a:cs typeface="Arial MT"/>
            </a:endParaRPr>
          </a:p>
          <a:p>
            <a:pPr marL="379095" marR="1007744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Example:</a:t>
            </a:r>
            <a:r>
              <a:rPr dirty="0" sz="18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Nightshade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tool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allowing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artists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poison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for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generative</a:t>
            </a:r>
            <a:r>
              <a:rPr dirty="0" sz="1800" spc="-10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models</a:t>
            </a:r>
            <a:r>
              <a:rPr dirty="0" sz="1800" spc="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(November</a:t>
            </a:r>
            <a:r>
              <a:rPr dirty="0" sz="1800" spc="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2023)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65"/>
              <a:t> </a:t>
            </a:r>
            <a:r>
              <a:rPr dirty="0"/>
              <a:t>Attack</a:t>
            </a:r>
            <a:r>
              <a:rPr dirty="0" spc="-30"/>
              <a:t> </a:t>
            </a:r>
            <a:r>
              <a:rPr dirty="0"/>
              <a:t>Vectors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Model</a:t>
            </a:r>
            <a:r>
              <a:rPr dirty="0" spc="-25"/>
              <a:t> </a:t>
            </a:r>
            <a:r>
              <a:rPr dirty="0" spc="-10"/>
              <a:t>Inversion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7988934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inversion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aim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reverse-engineer</a:t>
            </a:r>
            <a:r>
              <a:rPr dirty="0" sz="1800" spc="-11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retrieve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sensitive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about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data.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9872" y="1812257"/>
            <a:ext cx="3283267" cy="233282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68750" y="4651630"/>
            <a:ext cx="7239634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u="heavy" sz="14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https://mindgard.ai/blog/ai-under-attack-six-key-adversarial-attacks-and-their-</a:t>
            </a:r>
            <a:r>
              <a:rPr dirty="0" u="heavy" sz="14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consequences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70"/>
              <a:t> </a:t>
            </a:r>
            <a:r>
              <a:rPr dirty="0"/>
              <a:t>Attack</a:t>
            </a:r>
            <a:r>
              <a:rPr dirty="0" spc="-30"/>
              <a:t> </a:t>
            </a:r>
            <a:r>
              <a:rPr dirty="0"/>
              <a:t>Vectors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 spc="-10"/>
              <a:t>Evasion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8112125" cy="97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Evasion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involve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subtly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modifying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inputs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(images,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audio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files,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documents,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etc.)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mislead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inference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time,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making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them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stealthy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effective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means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bypassing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control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system.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296" y="2391430"/>
            <a:ext cx="5039071" cy="210839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68750" y="4651630"/>
            <a:ext cx="7239634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u="heavy" sz="14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https://mindgard.ai/blog/ai-under-attack-six-key-adversarial-attacks-and-their-</a:t>
            </a:r>
            <a:r>
              <a:rPr dirty="0" u="heavy" sz="14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consequences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50"/>
              <a:t> </a:t>
            </a:r>
            <a:r>
              <a:rPr dirty="0"/>
              <a:t>Attack</a:t>
            </a:r>
            <a:r>
              <a:rPr dirty="0" spc="-5"/>
              <a:t> </a:t>
            </a:r>
            <a:r>
              <a:rPr dirty="0"/>
              <a:t>Vectors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Model</a:t>
            </a:r>
            <a:r>
              <a:rPr dirty="0" spc="-5"/>
              <a:t> </a:t>
            </a:r>
            <a:r>
              <a:rPr dirty="0" spc="-10"/>
              <a:t>Stealing/Extraction</a:t>
            </a:r>
            <a:r>
              <a:rPr dirty="0" spc="-145"/>
              <a:t> </a:t>
            </a:r>
            <a:r>
              <a:rPr dirty="0" spc="-10"/>
              <a:t>Attacks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8344534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extraction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aim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replicate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functionality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proprietary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by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querying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numerous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inputs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observing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its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outputs.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700" y="1894650"/>
            <a:ext cx="6186724" cy="25943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68750" y="4651630"/>
            <a:ext cx="7239634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u="heavy" sz="14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https://mindgard.ai/blog/ai-under-attack-six-key-adversarial-attacks-and-their-</a:t>
            </a:r>
            <a:r>
              <a:rPr dirty="0" u="heavy" sz="14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consequences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AI</a:t>
            </a:r>
            <a:r>
              <a:rPr dirty="0" spc="-160"/>
              <a:t> </a:t>
            </a:r>
            <a:r>
              <a:rPr dirty="0"/>
              <a:t>Attack</a:t>
            </a:r>
            <a:r>
              <a:rPr dirty="0" spc="-20"/>
              <a:t> </a:t>
            </a:r>
            <a:r>
              <a:rPr dirty="0"/>
              <a:t>Vectors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Membership</a:t>
            </a:r>
            <a:r>
              <a:rPr dirty="0" spc="-20"/>
              <a:t> </a:t>
            </a:r>
            <a:r>
              <a:rPr dirty="0" spc="-10"/>
              <a:t>Inference</a:t>
            </a:r>
            <a:r>
              <a:rPr dirty="0" spc="-155"/>
              <a:t> </a:t>
            </a:r>
            <a:r>
              <a:rPr dirty="0" spc="-10"/>
              <a:t>Attacks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4801235" cy="97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Membership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inference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seek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determine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whether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particular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record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was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used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set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dirty="0" sz="1800" spc="-11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model.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0332" y="1272582"/>
            <a:ext cx="3002679" cy="317618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68750" y="4651630"/>
            <a:ext cx="7239634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u="heavy" sz="14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https://mindgard.ai/blog/ai-under-attack-six-key-adversarial-attacks-and-their-</a:t>
            </a:r>
            <a:r>
              <a:rPr dirty="0" u="heavy" sz="14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consequences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3618229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Introduction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</a:t>
            </a:r>
            <a:r>
              <a:rPr dirty="0" sz="18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Vectors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deep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dive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Defense</a:t>
            </a:r>
            <a:r>
              <a:rPr dirty="0" sz="1800" spc="-3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Techniques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Ethical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Legal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Landscape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Future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1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Defense</a:t>
            </a:r>
            <a:r>
              <a:rPr dirty="0" spc="-75"/>
              <a:t> </a:t>
            </a:r>
            <a:r>
              <a:rPr dirty="0" spc="-10"/>
              <a:t>Techniques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2676" y="1175208"/>
            <a:ext cx="3199765" cy="191833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Prompt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Injection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(for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LLMs)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poisoning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Inversion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Evasion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Stealing/Extraction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Membership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Inference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Defense</a:t>
            </a:r>
            <a:r>
              <a:rPr dirty="0" spc="-100"/>
              <a:t> </a:t>
            </a:r>
            <a:r>
              <a:rPr dirty="0"/>
              <a:t>Techniques</a:t>
            </a:r>
            <a:r>
              <a:rPr dirty="0" spc="-55"/>
              <a:t> </a:t>
            </a:r>
            <a:r>
              <a:rPr dirty="0"/>
              <a:t>-</a:t>
            </a:r>
            <a:r>
              <a:rPr dirty="0" spc="-55"/>
              <a:t> </a:t>
            </a:r>
            <a:r>
              <a:rPr dirty="0"/>
              <a:t>Prompt</a:t>
            </a:r>
            <a:r>
              <a:rPr dirty="0" spc="-60"/>
              <a:t> </a:t>
            </a:r>
            <a:r>
              <a:rPr dirty="0" spc="-10"/>
              <a:t>Injection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4287520" cy="14039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Very</a:t>
            </a:r>
            <a:r>
              <a:rPr dirty="0" sz="18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hard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Generally,</a:t>
            </a:r>
            <a:endParaRPr sz="1800">
              <a:latin typeface="Arial MT"/>
              <a:cs typeface="Arial MT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Enhance</a:t>
            </a:r>
            <a:r>
              <a:rPr dirty="0" sz="14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4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through</a:t>
            </a:r>
            <a:r>
              <a:rPr dirty="0" sz="14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adversarial</a:t>
            </a:r>
            <a:r>
              <a:rPr dirty="0" sz="14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endParaRPr sz="1400">
              <a:latin typeface="Arial MT"/>
              <a:cs typeface="Arial MT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validation</a:t>
            </a:r>
            <a:endParaRPr sz="1400">
              <a:latin typeface="Arial MT"/>
              <a:cs typeface="Arial MT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Semantic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vector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mapping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4725" y="4393979"/>
            <a:ext cx="73755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2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https://mindgard.ai/blog/ai-under-attack-six-key-adversarial-attacks-and-their-consequences#prompt-injection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Defense</a:t>
            </a:r>
            <a:r>
              <a:rPr dirty="0" spc="-100"/>
              <a:t> </a:t>
            </a:r>
            <a:r>
              <a:rPr dirty="0"/>
              <a:t>Techniques</a:t>
            </a:r>
            <a:r>
              <a:rPr dirty="0" spc="-50"/>
              <a:t> </a:t>
            </a:r>
            <a:r>
              <a:rPr dirty="0"/>
              <a:t>-</a:t>
            </a:r>
            <a:r>
              <a:rPr dirty="0" spc="-55"/>
              <a:t> </a:t>
            </a:r>
            <a:r>
              <a:rPr dirty="0"/>
              <a:t>Data</a:t>
            </a:r>
            <a:r>
              <a:rPr dirty="0" spc="-55"/>
              <a:t> </a:t>
            </a:r>
            <a:r>
              <a:rPr dirty="0" spc="-10"/>
              <a:t>poisoning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5041265" cy="9721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governance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Rigorous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sanitization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Anomaly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detection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algorithms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4725" y="4546379"/>
            <a:ext cx="7480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2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https://mindgard.ai/blog/ai-under-attack-six-key-adversarial-attacks-and-their-consequences#poisoning-</a:t>
            </a:r>
            <a:r>
              <a:rPr dirty="0" u="heavy" sz="12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attacks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Defense</a:t>
            </a:r>
            <a:r>
              <a:rPr dirty="0" spc="-100"/>
              <a:t> </a:t>
            </a:r>
            <a:r>
              <a:rPr dirty="0"/>
              <a:t>Techniques</a:t>
            </a:r>
            <a:r>
              <a:rPr dirty="0" spc="-55"/>
              <a:t> </a:t>
            </a:r>
            <a:r>
              <a:rPr dirty="0"/>
              <a:t>-</a:t>
            </a:r>
            <a:r>
              <a:rPr dirty="0" spc="-55"/>
              <a:t> </a:t>
            </a:r>
            <a:r>
              <a:rPr dirty="0"/>
              <a:t>Model</a:t>
            </a:r>
            <a:r>
              <a:rPr dirty="0" spc="-55"/>
              <a:t> </a:t>
            </a:r>
            <a:r>
              <a:rPr dirty="0" spc="-10"/>
              <a:t>Inversion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4249420" cy="160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Incorporate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privacy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preserving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techniques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such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differential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privacy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which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add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noise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output.</a:t>
            </a:r>
            <a:endParaRPr sz="1800">
              <a:latin typeface="Arial MT"/>
              <a:cs typeface="Arial MT"/>
            </a:endParaRPr>
          </a:p>
          <a:p>
            <a:pPr marL="379095" marR="56070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Limit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amount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information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available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through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queries.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0131" y="1290164"/>
            <a:ext cx="3335525" cy="236997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84725" y="4560815"/>
            <a:ext cx="7903209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u="heavy" sz="12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https://mindgard.ai/blog/ai-under-attack-six-key-adversarial-attacks-and-their-consequences#model-inversion-</a:t>
            </a:r>
            <a:r>
              <a:rPr dirty="0" u="heavy" sz="12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attacks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Defense</a:t>
            </a:r>
            <a:r>
              <a:rPr dirty="0" spc="-110"/>
              <a:t> </a:t>
            </a:r>
            <a:r>
              <a:rPr dirty="0"/>
              <a:t>Techniques</a:t>
            </a:r>
            <a:r>
              <a:rPr dirty="0" spc="-65"/>
              <a:t> </a:t>
            </a:r>
            <a:r>
              <a:rPr dirty="0"/>
              <a:t>-</a:t>
            </a:r>
            <a:r>
              <a:rPr dirty="0" spc="-70"/>
              <a:t> </a:t>
            </a:r>
            <a:r>
              <a:rPr dirty="0" spc="-10"/>
              <a:t>Evasion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3999865" cy="1287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Enhance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through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adversarial training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validation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advanced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approaches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2385" y="1186852"/>
            <a:ext cx="3403837" cy="142419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84725" y="4560815"/>
            <a:ext cx="7903209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u="heavy" sz="12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https://mindgard.ai/blog/ai-under-attack-six-key-adversarial-attacks-and-their-consequences#model-inversion-</a:t>
            </a:r>
            <a:r>
              <a:rPr dirty="0" u="heavy" sz="12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attacks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Defense</a:t>
            </a:r>
            <a:r>
              <a:rPr dirty="0" spc="-100"/>
              <a:t> </a:t>
            </a:r>
            <a:r>
              <a:rPr dirty="0"/>
              <a:t>Techniques</a:t>
            </a:r>
            <a:r>
              <a:rPr dirty="0" spc="-55"/>
              <a:t> </a:t>
            </a:r>
            <a:r>
              <a:rPr dirty="0"/>
              <a:t>-</a:t>
            </a:r>
            <a:r>
              <a:rPr dirty="0" spc="-55"/>
              <a:t> </a:t>
            </a:r>
            <a:r>
              <a:rPr dirty="0"/>
              <a:t>Model</a:t>
            </a:r>
            <a:r>
              <a:rPr dirty="0" spc="-55"/>
              <a:t> </a:t>
            </a:r>
            <a:r>
              <a:rPr dirty="0" spc="-10"/>
              <a:t>Stealing/Extraction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3189605" cy="9721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Rate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limiting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queries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Careful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monitoring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Watermarking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4925" y="1259650"/>
            <a:ext cx="3555999" cy="149114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84725" y="4560815"/>
            <a:ext cx="7818755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u="heavy" sz="12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https://mindgard.ai/blog/ai-under-attack-six-key-adversarial-attacks-and-their-consequences#model-stealing-</a:t>
            </a:r>
            <a:r>
              <a:rPr dirty="0" u="heavy" sz="12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attacks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41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Defense</a:t>
            </a:r>
            <a:r>
              <a:rPr dirty="0" spc="-105"/>
              <a:t> </a:t>
            </a:r>
            <a:r>
              <a:rPr dirty="0"/>
              <a:t>Techniques</a:t>
            </a:r>
            <a:r>
              <a:rPr dirty="0" spc="-60"/>
              <a:t> </a:t>
            </a:r>
            <a:r>
              <a:rPr dirty="0"/>
              <a:t>-</a:t>
            </a:r>
            <a:r>
              <a:rPr dirty="0" spc="-60"/>
              <a:t> </a:t>
            </a:r>
            <a:r>
              <a:rPr dirty="0"/>
              <a:t>Membership</a:t>
            </a:r>
            <a:r>
              <a:rPr dirty="0" spc="-65"/>
              <a:t> </a:t>
            </a:r>
            <a:r>
              <a:rPr dirty="0" spc="-10"/>
              <a:t>Inference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3054985" cy="65659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Reduce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overfitting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Employ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differential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privacy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4725" y="4546887"/>
            <a:ext cx="76504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https://mindgard.ai/blog/ai-under-attack-six-key-adversarial-attacks-and-their-consequences#membership-inference-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attacks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6182" y="1063932"/>
            <a:ext cx="3002679" cy="317618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781525" y="4778067"/>
            <a:ext cx="167005" cy="16764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25">
                <a:solidFill>
                  <a:srgbClr val="595959"/>
                </a:solidFill>
                <a:latin typeface="Arial MT"/>
                <a:cs typeface="Arial MT"/>
              </a:rPr>
              <a:t>42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Securing</a:t>
            </a:r>
            <a:r>
              <a:rPr dirty="0" spc="-5"/>
              <a:t> </a:t>
            </a:r>
            <a:r>
              <a:rPr dirty="0" spc="-10"/>
              <a:t>Generative</a:t>
            </a:r>
            <a:r>
              <a:rPr dirty="0" spc="-140"/>
              <a:t> </a:t>
            </a:r>
            <a:r>
              <a:rPr dirty="0"/>
              <a:t>AI</a:t>
            </a:r>
            <a:r>
              <a:rPr dirty="0" spc="10"/>
              <a:t> </a:t>
            </a:r>
            <a:r>
              <a:rPr dirty="0" spc="-10"/>
              <a:t>Security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196" y="1078469"/>
            <a:ext cx="6625732" cy="352965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43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144725" y="4855565"/>
            <a:ext cx="546100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u="heavy" sz="12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https://www.ibm.com/products/tutorials/ibm-framework-for-securing-generative-</a:t>
            </a:r>
            <a:r>
              <a:rPr dirty="0" u="heavy" sz="12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ai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Securing</a:t>
            </a:r>
            <a:r>
              <a:rPr dirty="0" spc="10"/>
              <a:t> </a:t>
            </a:r>
            <a:r>
              <a:rPr dirty="0" spc="-10"/>
              <a:t>Generative</a:t>
            </a:r>
            <a:r>
              <a:rPr dirty="0" spc="-130"/>
              <a:t> </a:t>
            </a:r>
            <a:r>
              <a:rPr dirty="0" spc="-25"/>
              <a:t>AI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140" y="1106063"/>
            <a:ext cx="6106737" cy="3593536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43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144725" y="4855565"/>
            <a:ext cx="546100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u="heavy" sz="12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https://www.ibm.com/products/tutorials/ibm-framework-for-securing-generative-</a:t>
            </a:r>
            <a:r>
              <a:rPr dirty="0" u="heavy" sz="1200" spc="-2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ai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45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3618229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Introduction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</a:t>
            </a:r>
            <a:r>
              <a:rPr dirty="0" sz="18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Vectors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deep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dive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Defense</a:t>
            </a:r>
            <a:r>
              <a:rPr dirty="0" sz="1800" spc="-6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Techniques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Ethical</a:t>
            </a:r>
            <a:r>
              <a:rPr dirty="0" sz="1800" spc="-2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800" spc="-2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Legal</a:t>
            </a:r>
            <a:r>
              <a:rPr dirty="0" sz="1800" spc="-2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Landscape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Future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1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45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Defense</a:t>
            </a:r>
            <a:r>
              <a:rPr dirty="0" spc="-60"/>
              <a:t> </a:t>
            </a:r>
            <a:r>
              <a:rPr dirty="0"/>
              <a:t>Techniques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Legal</a:t>
            </a:r>
            <a:r>
              <a:rPr dirty="0" spc="-10"/>
              <a:t> Landscape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60838"/>
            <a:ext cx="6271895" cy="1863089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Ethical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design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must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include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ground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up</a:t>
            </a:r>
            <a:endParaRPr sz="1800">
              <a:latin typeface="Arial MT"/>
              <a:cs typeface="Arial MT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red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teaming</a:t>
            </a:r>
            <a:endParaRPr sz="14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ISO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42001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u="heavy" sz="18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https://www.iso.org/standard/81230.html</a:t>
            </a:r>
            <a:endParaRPr sz="1800">
              <a:latin typeface="Arial MT"/>
              <a:cs typeface="Arial MT"/>
            </a:endParaRPr>
          </a:p>
          <a:p>
            <a:pPr marL="379095" marR="40894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NIST</a:t>
            </a:r>
            <a:r>
              <a:rPr dirty="0" sz="1800" spc="-1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Risk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Management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Framework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- </a:t>
            </a:r>
            <a:r>
              <a:rPr dirty="0" u="heavy" sz="18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https://www.nist.gov/itl/ai-</a:t>
            </a:r>
            <a:r>
              <a:rPr dirty="0" u="heavy" sz="18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risk-management-</a:t>
            </a:r>
            <a:r>
              <a:rPr dirty="0" u="heavy" sz="18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framework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EU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1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Act:</a:t>
            </a:r>
            <a:r>
              <a:rPr dirty="0" sz="1800" spc="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u="heavy" sz="18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https://artificialintelligenceact.eu/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45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3618229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Introduction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</a:t>
            </a:r>
            <a:r>
              <a:rPr dirty="0" sz="18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Vectors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deep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dive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Defense</a:t>
            </a:r>
            <a:r>
              <a:rPr dirty="0" sz="1800" spc="-6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Techniques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Ethical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Legal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Landscape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Future</a:t>
            </a:r>
            <a:r>
              <a:rPr dirty="0" sz="1800" spc="-2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800" spc="-8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AI</a:t>
            </a:r>
            <a:r>
              <a:rPr dirty="0" sz="1800" spc="-2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Security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45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Future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150"/>
              <a:t> </a:t>
            </a:r>
            <a:r>
              <a:rPr dirty="0"/>
              <a:t>AI</a:t>
            </a:r>
            <a:r>
              <a:rPr dirty="0" spc="-10"/>
              <a:t> Security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9" y="1175208"/>
            <a:ext cx="6927850" cy="12877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evolving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rapidly,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thus</a:t>
            </a:r>
            <a:r>
              <a:rPr dirty="0" sz="1800" spc="-11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also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rapidly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evolving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governance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key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Traditional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attacks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will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continue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cybersecurity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Security</dc:title>
  <dcterms:created xsi:type="dcterms:W3CDTF">2026-04-28T18:18:26Z</dcterms:created>
  <dcterms:modified xsi:type="dcterms:W3CDTF">2026-04-28T18:18:26Z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2026-04-28T00:00:00Z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2026-04-28T00:00:00Z</vt:filetime>
  </property>
</Properties>
</file>